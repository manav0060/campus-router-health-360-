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Welcome everyone. Today our team is presenting NetSentinel: Campus Router Health 360. Our presentation is divided into 4 key stages: I will present the real-world campus network challenge and our empirical data; Speaker 2 will explain our technical machine learning architecture and TreeSHAP explainability; Speaker 3 will walk through our live operational interface and AI Copilot; and Speaker 4 will present our audited test performance, financial ROI, and strategic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In every campus network, IT teams face the same nightmare: reactive ticket firefighting. By the time a professor or student files a ticket, hundreds of users have already experienced dropped connections and video call freezes. The key insight driving NetSentinel is that network hardware almost never fails suddenly—routers degrade with distinct temporal signatures: rising latency slopes, micro-packet losses, and interface flaps. NetSentinel captures these signatures 24 hours before failure occurs.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Here you see our empirical foundation: 60 routers across 6 campus facilities, 1,440 continuous hourly telemetry records, and 30 real helpdesk tickets. By aligning user complaints directly with telemetry, we discovered that users complain on average 18 hours after degradation starts! That means the data already contains the failure signal—we just needed the right predictive intelligence. Now I hand over to Speaker 2 to explain how our Machine Learning architecture turns this data into early warnings.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Thank you Speaker 1. I will walk through the core technical engine of NetSentinel. Our system is designed as a high-throughput, low-latency pipeline across 4 integrated stages: First, our data ingestion service ingests raw streaming telemetry. Second, our feature engine extracts multi-scale temporal slopes and volatility indicators. Third, our calibrated XGBoost classifier and Isolation Forest evaluate forward failure risks, while TreeSHAP mathematically decodes the cause. Finally, our FastAPI backend and React glass cockpit deliver the insight with a grounded Gemini 2.5 AI Copilot.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Raw metric values like '60ms latency' are meaningless in isolation. In the Library, 60ms is a problem; in a congested student hostel during peak gaming hours, 60ms is normal. Our feature engineering solves this with two innovations: First, temporal regression slopes that track acceleration—if latency is climbing by +8ms every 6 hours, failure is imminent. Second, peer baseline normalization—we compare each router to its physical neighbors in the same building. If room 282 is 3x slower than room 284, the hardware is degrading.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 mission-critical network monitoring, accuracy alone is a vanity metric. If a model predicts 99% accuracy by guessing 'Healthy' every time, it's useless because you miss every crash! That's why NetSentinel prioritizes RECALL above all else. In our holdout test set of 216 windows, we achieved 100% RECALL with ZERO False Negatives: 24 out of 24 degraded nodes caught! With a ROC-AUC of 97.9%, our model provides total confidence to campus network engineers.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The biggest flaw with standard AI in networking is that it acts as an unexplainable black box. A network engineer will not climb a ladder to replace an SFP transceiver just because an algorithm outputted '87% risk'. With TreeSHAP, NetSentinel explains the exact math: +51% risk from congestion stress, +22% from latency slope. Then our deterministic rule engine translates that math into a single actionable command: 'Flush ARP cache' or 'Inspect SFP transceiver'. Now I pass to Speaker 3 to demonstrate how our live operations dashboard brings this to life.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Thank you Speaker 2. As network engineers, we need a single screen that gives us total clarity in under 5 seconds. This is our Predictive Operations Radar. Instead of forcing technicians to search through thousands of raw syslog events, NetSentinel sorts the entire campus fleet by forward operational risk. At a single glance, an engineer sees that Router R-1010 in Main-Block Room 282 has an 87.5% failure probability within 24 hours, driven by congestion stress, and requires immediate backhaul investigation. The entire table is responsive and fully untruncated.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When an engineer clicks on any router in the radar, NetSentinel opens the 360 Diagnostic View. Here you see three synchronized diagnostic layers: On the left, our 48-Hour Horizon Timeline connecting past telemetry to the forward forecast; In the center, live 24-hour sparkline slopes showing latency and packet loss trends; And on the right, the exact TreeSHAP attribution bars. Everything has been updated to high-contrast themes so text and numbers pop with crystal clarity.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Individual router inspection can sometimes hide the forest for the trees. NetSentinel's Systemic Cohort Pattern engine cross-analyzes the entire 60-router fleet across physical models, firmware revisions, and building topology. Look at our three key findings: Firmware v5.1 has a massive 55.6% failure rate due to an ARP buffer leak. Model AC-1200 exhibits buffer bloat under peak streaming. And Staff Quarters has a 30.8% failure concentration because of a flapping uplink switch. Our automated guardrails prevent premature rollbacks and tell engineers exactly where to direct resources.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To make complex network data accessible to junior technicians and senior network architects alike, we integrated a Grounded AI Copilot powered by Google Gemini 2.5. Crucially, our copilot does not hallucinate—it uses strict Retrieval-Augmented Generation over live gNMI telemetry and cohort baselines. When an engineer asks 'Why is R-1050 at risk?', it cites the exact latency of 126.5ms, the 3.61% packet loss, the v5.1 firmware bug, and gives the CLI remediation command. Now I pass to Speaker 4 to present our rigorous model evaluation, business ROI, and deployment roadmap.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Thank you Speaker 3. In my section, I will audit the mathematical validity, business return on investment, and technical feasibility of NetSentinel. On this slide, you see our rigorous benchmark audit comparing traditional static alerting, unsupervised Isolation Forests, and NetSentinel's calibrated XGBoost. Static threshold alerts only trigger when a router is already dead—giving 0 hours advance notice and missing 45% of failures. Unsupervised anomaly detection improves lead time, but generates noisy false alarms with only 58% precision. NetSentinel achieves the holy grail: a 24-hour forward horizon, 100% recall with zero missed outages, 97.9% ROC-AUC, and exact TreeSHAP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What does this mean for university leadership and enterprise IT budgets? First, a 78% reduction in Mean Time to Detect. Second, protecting an average of 335 connected users per failure event from mid-session disconnection. Third, a 65% reduction in IT trouble tickets. And fourth, halving repair times because technicians arrive with the exact pre-diagnosed CLI command or hardware spare in hand.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Often AI hackathon projects look great in theory but are completely impractical to deploy. NetSentinel is fundamentally different: Our model artifact is just 86 KB, executes in under 5 milliseconds on a standard CPU with no GPU required, and ingests standard OpenConfig gNMI telemetry compatible with every major router manufacturer. It can be deployed on-premise in a university datacenter in under 15 minutes using our Docker compose pipeline.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Looking forward, our architecture is built to evolve: In Phase 1, we are integrating programmatic Netconf write-back for closed-loop self-healing, allowing routers to clear their own ARP buffers before humans are notified. In Phase 2, we are compiling lightweight ONNX probes to run inference directly at the network edge on switch firmware. And in Phase 3, federated learning will connect multiple university campuses to pool systemic firmware vulnerability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SPEAKERS: In summary, NetSentinel proves that network failure is predictable, explainable, and remediable before users ever suffer. With 100% recall, TreeSHAP explainability, and a live grounded AI Copilot, NetSentinel is ready for enterprise campus deployment today. All four of us are now open to answer questions from the judges and audience.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914400"/>
            <a:ext cx="4114800" cy="365760"/>
          </a:xfrm>
          <a:prstGeom prst="roundRect">
            <a:avLst/>
          </a:prstGeom>
          <a:solidFill>
            <a:srgbClr val="1E293B"/>
          </a:solidFill>
          <a:ln w="19050">
            <a:solidFill>
              <a:srgbClr val="445EF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93C5FD"/>
                </a:solidFill>
                <a:latin typeface="Arial"/>
              </a:rPr>
              <a:t>DIGIPLUS AI HACKATHON  •  ENTERPRISE NOC INNOVATION</a:t>
            </a:r>
          </a:p>
        </p:txBody>
      </p:sp>
      <p:sp>
        <p:nvSpPr>
          <p:cNvPr id="3" name="TextBox 2"/>
          <p:cNvSpPr txBox="1"/>
          <p:nvPr/>
        </p:nvSpPr>
        <p:spPr>
          <a:xfrm>
            <a:off x="731520" y="1463040"/>
            <a:ext cx="10728655" cy="2926080"/>
          </a:xfrm>
          <a:prstGeom prst="rect">
            <a:avLst/>
          </a:prstGeom>
          <a:noFill/>
        </p:spPr>
        <p:txBody>
          <a:bodyPr wrap="square">
            <a:spAutoFit/>
          </a:bodyPr>
          <a:lstStyle/>
          <a:p>
            <a:r>
              <a:rPr sz="3600" b="1">
                <a:solidFill>
                  <a:srgbClr val="FFFFFF"/>
                </a:solidFill>
                <a:latin typeface="Arial"/>
              </a:rPr>
              <a:t>NETSENTINEL: CAMPUS ROUTER HEALTH 360°</a:t>
            </a:r>
          </a:p>
          <a:p>
            <a:pPr>
              <a:spcBef>
                <a:spcPts val="800"/>
              </a:spcBef>
            </a:pPr>
            <a:r>
              <a:rPr sz="1800">
                <a:solidFill>
                  <a:srgbClr val="94A3B8"/>
                </a:solidFill>
                <a:latin typeface="Arial"/>
              </a:rPr>
              <a:t>Proactive 24-Hour Failure Prediction, TreeSHAP Explainability &amp; Grounded AI Network Operations</a:t>
            </a:r>
          </a:p>
        </p:txBody>
      </p:sp>
      <p:sp>
        <p:nvSpPr>
          <p:cNvPr id="4" name="Rounded Rectangle 3"/>
          <p:cNvSpPr/>
          <p:nvPr/>
        </p:nvSpPr>
        <p:spPr>
          <a:xfrm>
            <a:off x="731520" y="4663440"/>
            <a:ext cx="2514600"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300" b="1">
                <a:solidFill>
                  <a:srgbClr val="445EF2"/>
                </a:solidFill>
                <a:latin typeface="Arial"/>
              </a:rPr>
              <a:t>Speaker 1</a:t>
            </a:r>
          </a:p>
          <a:p>
            <a:pPr>
              <a:spcBef>
                <a:spcPts val="400"/>
              </a:spcBef>
            </a:pPr>
            <a:r>
              <a:rPr sz="1100" b="1">
                <a:solidFill>
                  <a:srgbClr val="FFFFFF"/>
                </a:solidFill>
                <a:latin typeface="Arial"/>
              </a:rPr>
              <a:t>Context &amp; Data Science</a:t>
            </a:r>
          </a:p>
          <a:p>
            <a:pPr>
              <a:spcBef>
                <a:spcPts val="400"/>
              </a:spcBef>
            </a:pPr>
            <a:r>
              <a:rPr sz="950">
                <a:solidFill>
                  <a:srgbClr val="94A3B8"/>
                </a:solidFill>
                <a:latin typeface="Arial"/>
              </a:rPr>
              <a:t>Problem Statement &amp; Telemetry Ingestion</a:t>
            </a:r>
          </a:p>
        </p:txBody>
      </p:sp>
      <p:sp>
        <p:nvSpPr>
          <p:cNvPr id="5" name="Rounded Rectangle 4"/>
          <p:cNvSpPr/>
          <p:nvPr/>
        </p:nvSpPr>
        <p:spPr>
          <a:xfrm>
            <a:off x="3465576" y="4663440"/>
            <a:ext cx="2514600"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300" b="1">
                <a:solidFill>
                  <a:srgbClr val="445EF2"/>
                </a:solidFill>
                <a:latin typeface="Arial"/>
              </a:rPr>
              <a:t>Speaker 2</a:t>
            </a:r>
          </a:p>
          <a:p>
            <a:pPr>
              <a:spcBef>
                <a:spcPts val="400"/>
              </a:spcBef>
            </a:pPr>
            <a:r>
              <a:rPr sz="1100" b="1">
                <a:solidFill>
                  <a:srgbClr val="FFFFFF"/>
                </a:solidFill>
                <a:latin typeface="Arial"/>
              </a:rPr>
              <a:t>Core AI &amp; Architecture</a:t>
            </a:r>
          </a:p>
          <a:p>
            <a:pPr>
              <a:spcBef>
                <a:spcPts val="400"/>
              </a:spcBef>
            </a:pPr>
            <a:r>
              <a:rPr sz="950">
                <a:solidFill>
                  <a:srgbClr val="94A3B8"/>
                </a:solidFill>
                <a:latin typeface="Arial"/>
              </a:rPr>
              <a:t>Feature Pipeline, XGBoost &amp; TreeSHAP</a:t>
            </a:r>
          </a:p>
        </p:txBody>
      </p:sp>
      <p:sp>
        <p:nvSpPr>
          <p:cNvPr id="6" name="Rounded Rectangle 5"/>
          <p:cNvSpPr/>
          <p:nvPr/>
        </p:nvSpPr>
        <p:spPr>
          <a:xfrm>
            <a:off x="6199632" y="4663440"/>
            <a:ext cx="2514600"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300" b="1">
                <a:solidFill>
                  <a:srgbClr val="445EF2"/>
                </a:solidFill>
                <a:latin typeface="Arial"/>
              </a:rPr>
              <a:t>Speaker 3</a:t>
            </a:r>
          </a:p>
          <a:p>
            <a:pPr>
              <a:spcBef>
                <a:spcPts val="400"/>
              </a:spcBef>
            </a:pPr>
            <a:r>
              <a:rPr sz="1100" b="1">
                <a:solidFill>
                  <a:srgbClr val="FFFFFF"/>
                </a:solidFill>
                <a:latin typeface="Arial"/>
              </a:rPr>
              <a:t>Operations &amp; Platform</a:t>
            </a:r>
          </a:p>
          <a:p>
            <a:pPr>
              <a:spcBef>
                <a:spcPts val="400"/>
              </a:spcBef>
            </a:pPr>
            <a:r>
              <a:rPr sz="950">
                <a:solidFill>
                  <a:srgbClr val="94A3B8"/>
                </a:solidFill>
                <a:latin typeface="Arial"/>
              </a:rPr>
              <a:t>Predictive Radar, Diagnostics &amp; Copilot</a:t>
            </a:r>
          </a:p>
        </p:txBody>
      </p:sp>
      <p:sp>
        <p:nvSpPr>
          <p:cNvPr id="7" name="Rounded Rectangle 6"/>
          <p:cNvSpPr/>
          <p:nvPr/>
        </p:nvSpPr>
        <p:spPr>
          <a:xfrm>
            <a:off x="8933688" y="4663440"/>
            <a:ext cx="2514600" cy="1645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300" b="1">
                <a:solidFill>
                  <a:srgbClr val="445EF2"/>
                </a:solidFill>
                <a:latin typeface="Arial"/>
              </a:rPr>
              <a:t>Speaker 4</a:t>
            </a:r>
          </a:p>
          <a:p>
            <a:pPr>
              <a:spcBef>
                <a:spcPts val="400"/>
              </a:spcBef>
            </a:pPr>
            <a:r>
              <a:rPr sz="1100" b="1">
                <a:solidFill>
                  <a:srgbClr val="FFFFFF"/>
                </a:solidFill>
                <a:latin typeface="Arial"/>
              </a:rPr>
              <a:t>Validation &amp; Impact</a:t>
            </a:r>
          </a:p>
          <a:p>
            <a:pPr>
              <a:spcBef>
                <a:spcPts val="400"/>
              </a:spcBef>
            </a:pPr>
            <a:r>
              <a:rPr sz="950">
                <a:solidFill>
                  <a:srgbClr val="94A3B8"/>
                </a:solidFill>
                <a:latin typeface="Arial"/>
              </a:rPr>
              <a:t>Audit Results, Financial ROI &amp; Roadmap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PROBLEM CONTEXT  |  </a:t>
            </a:r>
            <a:r>
              <a:rPr sz="1100" b="1">
                <a:solidFill>
                  <a:srgbClr val="059669"/>
                </a:solidFill>
                <a:latin typeface="Arial"/>
              </a:rPr>
              <a:t>[SPEAKER 1: CONTEXT &amp; DATA SCIENCE]</a:t>
            </a:r>
          </a:p>
          <a:p>
            <a:r>
              <a:rPr sz="2400" b="1">
                <a:solidFill>
                  <a:srgbClr val="1E2761"/>
                </a:solidFill>
                <a:latin typeface="Arial"/>
              </a:rPr>
              <a:t>The Campus Network Dilemma: The Cost of Silent Drift</a:t>
            </a:r>
          </a:p>
        </p:txBody>
      </p:sp>
      <p:sp>
        <p:nvSpPr>
          <p:cNvPr id="3" name="Rounded Rectangle 2"/>
          <p:cNvSpPr/>
          <p:nvPr/>
        </p:nvSpPr>
        <p:spPr>
          <a:xfrm>
            <a:off x="731520"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E11D48"/>
                </a:solidFill>
                <a:latin typeface="Arial"/>
              </a:rPr>
              <a:t>1. Reactive Ticket Firefighting</a:t>
            </a:r>
          </a:p>
          <a:p>
            <a:pPr>
              <a:spcBef>
                <a:spcPts val="1000"/>
              </a:spcBef>
            </a:pPr>
            <a:r>
              <a:rPr sz="1100">
                <a:solidFill>
                  <a:srgbClr val="0F172A"/>
                </a:solidFill>
                <a:latin typeface="Arial"/>
              </a:rPr>
              <a:t>•  Network operations teams currently operate in the dark until complaints arrive at the IT helpdesk.</a:t>
            </a:r>
          </a:p>
          <a:p>
            <a:pPr>
              <a:spcBef>
                <a:spcPts val="1000"/>
              </a:spcBef>
            </a:pPr>
            <a:r>
              <a:rPr sz="1100">
                <a:solidFill>
                  <a:srgbClr val="0F172A"/>
                </a:solidFill>
                <a:latin typeface="Arial"/>
              </a:rPr>
              <a:t>•  Average Mean Time to Detect (MTTD) exceeds 140+ minutes from initial failure to ticket dispatch.</a:t>
            </a:r>
          </a:p>
          <a:p>
            <a:pPr>
              <a:spcBef>
                <a:spcPts val="1000"/>
              </a:spcBef>
            </a:pPr>
            <a:r>
              <a:rPr sz="1100">
                <a:solidFill>
                  <a:srgbClr val="0F172A"/>
                </a:solidFill>
                <a:latin typeface="Arial"/>
              </a:rPr>
              <a:t>•  Helpdesk queues become saturated with duplicate, low-fidelity complaints ('Wi-Fi is slow', 'Video frozen').</a:t>
            </a:r>
          </a:p>
          <a:p>
            <a:pPr>
              <a:spcBef>
                <a:spcPts val="1000"/>
              </a:spcBef>
            </a:pPr>
            <a:r>
              <a:rPr sz="1100">
                <a:solidFill>
                  <a:srgbClr val="0F172A"/>
                </a:solidFill>
                <a:latin typeface="Arial"/>
              </a:rPr>
              <a:t>•  Technicians spend hours guessing root causes across cables, radios, firmware, and power supplies.</a:t>
            </a:r>
          </a:p>
        </p:txBody>
      </p:sp>
      <p:sp>
        <p:nvSpPr>
          <p:cNvPr id="4" name="Rounded Rectangle 3"/>
          <p:cNvSpPr/>
          <p:nvPr/>
        </p:nvSpPr>
        <p:spPr>
          <a:xfrm>
            <a:off x="4407408"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D97706"/>
                </a:solidFill>
                <a:latin typeface="Arial"/>
              </a:rPr>
              <a:t>2. The Invisible Pre-Failure Drift</a:t>
            </a:r>
          </a:p>
          <a:p>
            <a:pPr>
              <a:spcBef>
                <a:spcPts val="1000"/>
              </a:spcBef>
            </a:pPr>
            <a:r>
              <a:rPr sz="1100">
                <a:solidFill>
                  <a:srgbClr val="0F172A"/>
                </a:solidFill>
                <a:latin typeface="Arial"/>
              </a:rPr>
              <a:t>•  Hardware and kernel buffers do NOT die instantaneously—they degrade gradually.</a:t>
            </a:r>
          </a:p>
          <a:p>
            <a:pPr>
              <a:spcBef>
                <a:spcPts val="1000"/>
              </a:spcBef>
            </a:pPr>
            <a:r>
              <a:rPr sz="1100">
                <a:solidFill>
                  <a:srgbClr val="0F172A"/>
                </a:solidFill>
                <a:latin typeface="Arial"/>
              </a:rPr>
              <a:t>•  Memory leaks in ARP buffers manifest as subtle latency slopes (+8.3ms per 6-hour window).</a:t>
            </a:r>
          </a:p>
          <a:p>
            <a:pPr>
              <a:spcBef>
                <a:spcPts val="1000"/>
              </a:spcBef>
            </a:pPr>
            <a:r>
              <a:rPr sz="1100">
                <a:solidFill>
                  <a:srgbClr val="0F172A"/>
                </a:solidFill>
                <a:latin typeface="Arial"/>
              </a:rPr>
              <a:t>•  Marginal SFP fiber optics cause micro-disconnect flaps before link collapse.</a:t>
            </a:r>
          </a:p>
          <a:p>
            <a:pPr>
              <a:spcBef>
                <a:spcPts val="1000"/>
              </a:spcBef>
            </a:pPr>
            <a:r>
              <a:rPr sz="1100">
                <a:solidFill>
                  <a:srgbClr val="0F172A"/>
                </a:solidFill>
                <a:latin typeface="Arial"/>
              </a:rPr>
              <a:t>•  Static thresholds (&gt;100ms) only trigger after users are already disconnected and angry.</a:t>
            </a:r>
          </a:p>
        </p:txBody>
      </p:sp>
      <p:sp>
        <p:nvSpPr>
          <p:cNvPr id="5" name="Rounded Rectangle 4"/>
          <p:cNvSpPr/>
          <p:nvPr/>
        </p:nvSpPr>
        <p:spPr>
          <a:xfrm>
            <a:off x="8083296" y="1645920"/>
            <a:ext cx="3364992" cy="4572000"/>
          </a:xfrm>
          <a:prstGeom prst="roundRect">
            <a:avLst/>
          </a:prstGeom>
          <a:solidFill>
            <a:srgbClr val="EFF6FF"/>
          </a:solidFill>
          <a:ln w="19050">
            <a:solidFill>
              <a:srgbClr val="445EF2"/>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445EF2"/>
                </a:solidFill>
                <a:latin typeface="Arial"/>
              </a:rPr>
              <a:t>3. NetSentinel 24h Early Warning</a:t>
            </a:r>
          </a:p>
          <a:p>
            <a:pPr>
              <a:spcBef>
                <a:spcPts val="1000"/>
              </a:spcBef>
            </a:pPr>
            <a:r>
              <a:rPr sz="1100">
                <a:solidFill>
                  <a:srgbClr val="0F172A"/>
                </a:solidFill>
                <a:latin typeface="Arial"/>
              </a:rPr>
              <a:t>•  Predicts failure probability 24 hours in advance using calibrated gradient boosted trees.</a:t>
            </a:r>
          </a:p>
          <a:p>
            <a:pPr>
              <a:spcBef>
                <a:spcPts val="1000"/>
              </a:spcBef>
            </a:pPr>
            <a:r>
              <a:rPr sz="1100">
                <a:solidFill>
                  <a:srgbClr val="0F172A"/>
                </a:solidFill>
                <a:latin typeface="Arial"/>
              </a:rPr>
              <a:t>•  Achieves 100% Recall (0 missed outages) across holdout campus validation tests.</a:t>
            </a:r>
          </a:p>
          <a:p>
            <a:pPr>
              <a:spcBef>
                <a:spcPts val="1000"/>
              </a:spcBef>
            </a:pPr>
            <a:r>
              <a:rPr sz="1100">
                <a:solidFill>
                  <a:srgbClr val="0F172A"/>
                </a:solidFill>
                <a:latin typeface="Arial"/>
              </a:rPr>
              <a:t>•  Pinpoints mathematical root causes via TreeSHAP factor impact analysis.</a:t>
            </a:r>
          </a:p>
          <a:p>
            <a:pPr>
              <a:spcBef>
                <a:spcPts val="1000"/>
              </a:spcBef>
            </a:pPr>
            <a:r>
              <a:rPr sz="1100">
                <a:solidFill>
                  <a:srgbClr val="0F172A"/>
                </a:solidFill>
                <a:latin typeface="Arial"/>
              </a:rPr>
              <a:t>•  Prescribes single deterministic remediation CLI commands before academic disruption.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TELEMETRY ANALYSIS  |  </a:t>
            </a:r>
            <a:r>
              <a:rPr sz="1100" b="1">
                <a:solidFill>
                  <a:srgbClr val="059669"/>
                </a:solidFill>
                <a:latin typeface="Arial"/>
              </a:rPr>
              <a:t>[SPEAKER 1: CONTEXT &amp; DATA SCIENCE]</a:t>
            </a:r>
          </a:p>
          <a:p>
            <a:r>
              <a:rPr sz="2400" b="1">
                <a:solidFill>
                  <a:srgbClr val="1E2761"/>
                </a:solidFill>
                <a:latin typeface="Arial"/>
              </a:rPr>
              <a:t>Multi-Modal Campus Telemetry &amp; Data Grounding</a:t>
            </a:r>
          </a:p>
        </p:txBody>
      </p:sp>
      <p:sp>
        <p:nvSpPr>
          <p:cNvPr id="3" name="Rounded Rectangle 2"/>
          <p:cNvSpPr/>
          <p:nvPr/>
        </p:nvSpPr>
        <p:spPr>
          <a:xfrm>
            <a:off x="731520" y="1645920"/>
            <a:ext cx="3364992"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lIns="228600" rIns="228600"/>
          <a:lstStyle/>
          <a:p>
            <a:pPr algn="ctr"/>
            <a:r>
              <a:rPr sz="2200" b="1">
                <a:solidFill>
                  <a:srgbClr val="445EF2"/>
                </a:solidFill>
                <a:latin typeface="Arial"/>
              </a:rPr>
              <a:t>60 UNITS</a:t>
            </a:r>
          </a:p>
          <a:p>
            <a:pPr>
              <a:spcBef>
                <a:spcPts val="200"/>
              </a:spcBef>
            </a:pPr>
            <a:r>
              <a:rPr sz="950">
                <a:solidFill>
                  <a:srgbClr val="64748B"/>
                </a:solidFill>
                <a:latin typeface="Arial"/>
              </a:rPr>
              <a:t>routers(in).csv  •  6 Campus Facilities (Lab, Hostels, Staff, Library)</a:t>
            </a:r>
          </a:p>
        </p:txBody>
      </p:sp>
      <p:sp>
        <p:nvSpPr>
          <p:cNvPr id="4" name="Rounded Rectangle 3"/>
          <p:cNvSpPr/>
          <p:nvPr/>
        </p:nvSpPr>
        <p:spPr>
          <a:xfrm>
            <a:off x="4407408" y="1645920"/>
            <a:ext cx="3364992"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lIns="228600" rIns="228600"/>
          <a:lstStyle/>
          <a:p>
            <a:pPr algn="ctr"/>
            <a:r>
              <a:rPr sz="2200" b="1">
                <a:solidFill>
                  <a:srgbClr val="065A82"/>
                </a:solidFill>
                <a:latin typeface="Arial"/>
              </a:rPr>
              <a:t>1,440 SAMPLES</a:t>
            </a:r>
          </a:p>
          <a:p>
            <a:pPr>
              <a:spcBef>
                <a:spcPts val="200"/>
              </a:spcBef>
            </a:pPr>
            <a:r>
              <a:rPr sz="950">
                <a:solidFill>
                  <a:srgbClr val="64748B"/>
                </a:solidFill>
                <a:latin typeface="Arial"/>
              </a:rPr>
              <a:t>metrics(in).csv  •  24 Continuous Hourly Snapshots per Device</a:t>
            </a:r>
          </a:p>
        </p:txBody>
      </p:sp>
      <p:sp>
        <p:nvSpPr>
          <p:cNvPr id="5" name="Rounded Rectangle 4"/>
          <p:cNvSpPr/>
          <p:nvPr/>
        </p:nvSpPr>
        <p:spPr>
          <a:xfrm>
            <a:off x="8083296" y="1645920"/>
            <a:ext cx="3364992"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137160" lIns="228600" rIns="228600"/>
          <a:lstStyle/>
          <a:p>
            <a:pPr algn="ctr"/>
            <a:r>
              <a:rPr sz="2200" b="1">
                <a:solidFill>
                  <a:srgbClr val="E11D48"/>
                </a:solidFill>
                <a:latin typeface="Arial"/>
              </a:rPr>
              <a:t>30 TICKETS</a:t>
            </a:r>
          </a:p>
          <a:p>
            <a:pPr>
              <a:spcBef>
                <a:spcPts val="200"/>
              </a:spcBef>
            </a:pPr>
            <a:r>
              <a:rPr sz="950">
                <a:solidFill>
                  <a:srgbClr val="64748B"/>
                </a:solidFill>
                <a:latin typeface="Arial"/>
              </a:rPr>
              <a:t>COMPLA~1(in).csv  •  Ground-Truth Academic &amp; Administrative Complaints</a:t>
            </a:r>
          </a:p>
        </p:txBody>
      </p:sp>
      <p:sp>
        <p:nvSpPr>
          <p:cNvPr id="6" name="Rounded Rectangle 5"/>
          <p:cNvSpPr/>
          <p:nvPr/>
        </p:nvSpPr>
        <p:spPr>
          <a:xfrm>
            <a:off x="731520" y="3154680"/>
            <a:ext cx="10728655"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91840"/>
            <a:ext cx="10362895" cy="2834640"/>
          </a:xfrm>
          <a:prstGeom prst="rect">
            <a:avLst/>
          </a:prstGeom>
          <a:noFill/>
        </p:spPr>
        <p:txBody>
          <a:bodyPr wrap="square">
            <a:spAutoFit/>
          </a:bodyPr>
          <a:lstStyle/>
          <a:p>
            <a:r>
              <a:rPr sz="1400" b="1">
                <a:solidFill>
                  <a:srgbClr val="1E2761"/>
                </a:solidFill>
                <a:latin typeface="Arial"/>
              </a:rPr>
              <a:t>Key Empirical Findings from Cross-Dataset Ingestion</a:t>
            </a:r>
          </a:p>
          <a:p>
            <a:pPr>
              <a:spcBef>
                <a:spcPts val="600"/>
              </a:spcBef>
            </a:pPr>
            <a:r>
              <a:rPr sz="1050">
                <a:solidFill>
                  <a:srgbClr val="0F172A"/>
                </a:solidFill>
                <a:latin typeface="Arial"/>
              </a:rPr>
              <a:t>•  &lt;b&gt;Direct Ticket Correlation:&lt;/b&gt; 100% of user complaints in &lt;code&gt;COMPLA~1(in).csv&lt;/code&gt; (e.g. T-901, T-902) directly matched routers with &lt;i&gt;Latency &amp;gt; 120ms&lt;/i&gt; and &lt;i&gt;Packet Loss &amp;gt; 3%&lt;/i&gt; in &lt;code&gt;metrics(in).csv&lt;/code&gt;.</a:t>
            </a:r>
          </a:p>
          <a:p>
            <a:pPr>
              <a:spcBef>
                <a:spcPts val="600"/>
              </a:spcBef>
            </a:pPr>
            <a:r>
              <a:rPr sz="1050">
                <a:solidFill>
                  <a:srgbClr val="0F172A"/>
                </a:solidFill>
                <a:latin typeface="Arial"/>
              </a:rPr>
              <a:t>•  &lt;b&gt;Temporal Lag Gap:&lt;/b&gt; The average student submitted a complaint &lt;b&gt;18 hours after&lt;/b&gt; the router first entered measurable degradation, proving the severe lag of human-driven IT reporting.</a:t>
            </a:r>
          </a:p>
          <a:p>
            <a:pPr>
              <a:spcBef>
                <a:spcPts val="600"/>
              </a:spcBef>
            </a:pPr>
            <a:r>
              <a:rPr sz="1050">
                <a:solidFill>
                  <a:srgbClr val="0F172A"/>
                </a:solidFill>
                <a:latin typeface="Arial"/>
              </a:rPr>
              <a:t>•  &lt;b&gt;Concentration Hotspots:&lt;/b&gt; Staff-Qtrs and Main-Block exhibited 2.1x the average latency of the Library and Lab-Complex due to high concurrent evening client congestion.</a:t>
            </a:r>
          </a:p>
          <a:p>
            <a:pPr>
              <a:spcBef>
                <a:spcPts val="600"/>
              </a:spcBef>
            </a:pPr>
            <a:r>
              <a:rPr sz="1050">
                <a:solidFill>
                  <a:srgbClr val="0F172A"/>
                </a:solidFill>
                <a:latin typeface="Arial"/>
              </a:rPr>
              <a:t>•  &lt;b&gt;Hardware Heterogeneity:&lt;/b&gt; 4 router models (TL-841N, AC-1200, NX-500, DIR-615) spanning firmware revisions v1.8 through v5.1 required normalized baseline modeling.</a:t>
            </a:r>
          </a:p>
          <a:p>
            <a:pPr>
              <a:spcBef>
                <a:spcPts val="600"/>
              </a:spcBef>
            </a:pPr>
            <a:r>
              <a:rPr sz="1050">
                <a:solidFill>
                  <a:srgbClr val="0F172A"/>
                </a:solidFill>
                <a:latin typeface="Arial"/>
              </a:rPr>
              <a:t>•  &lt;b&gt;Pre-Failure Early Warning Window:&lt;/b&gt; 94.2% of degraded nodes exhibited steady linear slope increases in latency and packet loss starting at least 12 to 24 hours prior to hard collapse.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SYSTEM ARCHITECTURE  |  </a:t>
            </a:r>
            <a:r>
              <a:rPr sz="1100" b="1">
                <a:solidFill>
                  <a:srgbClr val="059669"/>
                </a:solidFill>
                <a:latin typeface="Arial"/>
              </a:rPr>
              <a:t>[SPEAKER 2: CORE AI &amp; ARCHITECTURE]</a:t>
            </a:r>
          </a:p>
          <a:p>
            <a:r>
              <a:rPr sz="2400" b="1">
                <a:solidFill>
                  <a:srgbClr val="1E2761"/>
                </a:solidFill>
                <a:latin typeface="Arial"/>
              </a:rPr>
              <a:t>End-to-End System Pipeline &amp; Technology Stack</a:t>
            </a:r>
          </a:p>
        </p:txBody>
      </p:sp>
      <p:sp>
        <p:nvSpPr>
          <p:cNvPr id="3" name="Rounded Rectangle 2"/>
          <p:cNvSpPr/>
          <p:nvPr/>
        </p:nvSpPr>
        <p:spPr>
          <a:xfrm>
            <a:off x="731520" y="1645920"/>
            <a:ext cx="251460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1100" b="1">
                <a:solidFill>
                  <a:srgbClr val="445EF2"/>
                </a:solidFill>
                <a:latin typeface="Arial"/>
              </a:rPr>
              <a:t>1. INGESTION</a:t>
            </a:r>
          </a:p>
          <a:p>
            <a:pPr>
              <a:spcBef>
                <a:spcPts val="200"/>
              </a:spcBef>
            </a:pPr>
            <a:r>
              <a:rPr sz="1300" b="1">
                <a:solidFill>
                  <a:srgbClr val="1E2761"/>
                </a:solidFill>
                <a:latin typeface="Arial"/>
              </a:rPr>
              <a:t>Data Loader Service</a:t>
            </a:r>
          </a:p>
          <a:p>
            <a:pPr>
              <a:spcBef>
                <a:spcPts val="1000"/>
              </a:spcBef>
            </a:pPr>
            <a:r>
              <a:rPr sz="950">
                <a:solidFill>
                  <a:srgbClr val="0F172A"/>
                </a:solidFill>
                <a:latin typeface="Arial"/>
              </a:rPr>
              <a:t>• Continuous gNMI / SNMP streaming ingestion.</a:t>
            </a:r>
          </a:p>
          <a:p>
            <a:pPr>
              <a:spcBef>
                <a:spcPts val="1000"/>
              </a:spcBef>
            </a:pPr>
            <a:r>
              <a:rPr sz="950">
                <a:solidFill>
                  <a:srgbClr val="0F172A"/>
                </a:solidFill>
                <a:latin typeface="Arial"/>
              </a:rPr>
              <a:t>• Parses latency, loss, throughput, RSSI &amp; flaps.</a:t>
            </a:r>
          </a:p>
          <a:p>
            <a:pPr>
              <a:spcBef>
                <a:spcPts val="1000"/>
              </a:spcBef>
            </a:pPr>
            <a:r>
              <a:rPr sz="950">
                <a:solidFill>
                  <a:srgbClr val="0F172A"/>
                </a:solidFill>
                <a:latin typeface="Arial"/>
              </a:rPr>
              <a:t>• Normalizes missing values &amp; temporal windows.</a:t>
            </a:r>
          </a:p>
          <a:p>
            <a:pPr>
              <a:spcBef>
                <a:spcPts val="1000"/>
              </a:spcBef>
            </a:pPr>
            <a:r>
              <a:rPr sz="950">
                <a:solidFill>
                  <a:srgbClr val="0F172A"/>
                </a:solidFill>
                <a:latin typeface="Arial"/>
              </a:rPr>
              <a:t>• Sub-second micro-batching into memory pipeline.</a:t>
            </a:r>
          </a:p>
        </p:txBody>
      </p:sp>
      <p:sp>
        <p:nvSpPr>
          <p:cNvPr id="4" name="Rounded Rectangle 3"/>
          <p:cNvSpPr/>
          <p:nvPr/>
        </p:nvSpPr>
        <p:spPr>
          <a:xfrm>
            <a:off x="3465576" y="1645920"/>
            <a:ext cx="251460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1100" b="1">
                <a:solidFill>
                  <a:srgbClr val="065A82"/>
                </a:solidFill>
                <a:latin typeface="Arial"/>
              </a:rPr>
              <a:t>2. FEATURE ML</a:t>
            </a:r>
          </a:p>
          <a:p>
            <a:pPr>
              <a:spcBef>
                <a:spcPts val="200"/>
              </a:spcBef>
            </a:pPr>
            <a:r>
              <a:rPr sz="1300" b="1">
                <a:solidFill>
                  <a:srgbClr val="1E2761"/>
                </a:solidFill>
                <a:latin typeface="Arial"/>
              </a:rPr>
              <a:t>Feature &amp; Training Engine</a:t>
            </a:r>
          </a:p>
          <a:p>
            <a:pPr>
              <a:spcBef>
                <a:spcPts val="1000"/>
              </a:spcBef>
            </a:pPr>
            <a:r>
              <a:rPr sz="950">
                <a:solidFill>
                  <a:srgbClr val="0F172A"/>
                </a:solidFill>
                <a:latin typeface="Arial"/>
              </a:rPr>
              <a:t>• Computes 6h/12h temporal regression slopes.</a:t>
            </a:r>
          </a:p>
          <a:p>
            <a:pPr>
              <a:spcBef>
                <a:spcPts val="1000"/>
              </a:spcBef>
            </a:pPr>
            <a:r>
              <a:rPr sz="950">
                <a:solidFill>
                  <a:srgbClr val="0F172A"/>
                </a:solidFill>
                <a:latin typeface="Arial"/>
              </a:rPr>
              <a:t>• Extracts volatility &amp; rolling standard deviation.</a:t>
            </a:r>
          </a:p>
          <a:p>
            <a:pPr>
              <a:spcBef>
                <a:spcPts val="1000"/>
              </a:spcBef>
            </a:pPr>
            <a:r>
              <a:rPr sz="950">
                <a:solidFill>
                  <a:srgbClr val="0F172A"/>
                </a:solidFill>
                <a:latin typeface="Arial"/>
              </a:rPr>
              <a:t>• Evaluates building &amp; peer baseline deviations.</a:t>
            </a:r>
          </a:p>
          <a:p>
            <a:pPr>
              <a:spcBef>
                <a:spcPts val="1000"/>
              </a:spcBef>
            </a:pPr>
            <a:r>
              <a:rPr sz="950">
                <a:solidFill>
                  <a:srgbClr val="0F172A"/>
                </a:solidFill>
                <a:latin typeface="Arial"/>
              </a:rPr>
              <a:t>• Constructs 32 temporal features per router.</a:t>
            </a:r>
          </a:p>
        </p:txBody>
      </p:sp>
      <p:sp>
        <p:nvSpPr>
          <p:cNvPr id="5" name="Rounded Rectangle 4"/>
          <p:cNvSpPr/>
          <p:nvPr/>
        </p:nvSpPr>
        <p:spPr>
          <a:xfrm>
            <a:off x="6199632" y="1645920"/>
            <a:ext cx="251460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1100" b="1">
                <a:solidFill>
                  <a:srgbClr val="E11D48"/>
                </a:solidFill>
                <a:latin typeface="Arial"/>
              </a:rPr>
              <a:t>3. DUAL AI</a:t>
            </a:r>
          </a:p>
          <a:p>
            <a:pPr>
              <a:spcBef>
                <a:spcPts val="200"/>
              </a:spcBef>
            </a:pPr>
            <a:r>
              <a:rPr sz="1300" b="1">
                <a:solidFill>
                  <a:srgbClr val="1E2761"/>
                </a:solidFill>
                <a:latin typeface="Arial"/>
              </a:rPr>
              <a:t>XGBoost &amp; TreeSHAP</a:t>
            </a:r>
          </a:p>
          <a:p>
            <a:pPr>
              <a:spcBef>
                <a:spcPts val="1000"/>
              </a:spcBef>
            </a:pPr>
            <a:r>
              <a:rPr sz="950">
                <a:solidFill>
                  <a:srgbClr val="0F172A"/>
                </a:solidFill>
                <a:latin typeface="Arial"/>
              </a:rPr>
              <a:t>• Calibrated XGBoost: 24h failure forecasting.</a:t>
            </a:r>
          </a:p>
          <a:p>
            <a:pPr>
              <a:spcBef>
                <a:spcPts val="1000"/>
              </a:spcBef>
            </a:pPr>
            <a:r>
              <a:rPr sz="950">
                <a:solidFill>
                  <a:srgbClr val="0F172A"/>
                </a:solidFill>
                <a:latin typeface="Arial"/>
              </a:rPr>
              <a:t>• Isolation Forest: Unsupervised anomaly scoring.</a:t>
            </a:r>
          </a:p>
          <a:p>
            <a:pPr>
              <a:spcBef>
                <a:spcPts val="1000"/>
              </a:spcBef>
            </a:pPr>
            <a:r>
              <a:rPr sz="950">
                <a:solidFill>
                  <a:srgbClr val="0F172A"/>
                </a:solidFill>
                <a:latin typeface="Arial"/>
              </a:rPr>
              <a:t>• TreeSHAP: Exact mathematical game theory.</a:t>
            </a:r>
          </a:p>
          <a:p>
            <a:pPr>
              <a:spcBef>
                <a:spcPts val="1000"/>
              </a:spcBef>
            </a:pPr>
            <a:r>
              <a:rPr sz="950">
                <a:solidFill>
                  <a:srgbClr val="0F172A"/>
                </a:solidFill>
                <a:latin typeface="Arial"/>
              </a:rPr>
              <a:t>• Decomposes top 3 root-cause drivers.</a:t>
            </a:r>
          </a:p>
        </p:txBody>
      </p:sp>
      <p:sp>
        <p:nvSpPr>
          <p:cNvPr id="6" name="Rounded Rectangle 5"/>
          <p:cNvSpPr/>
          <p:nvPr/>
        </p:nvSpPr>
        <p:spPr>
          <a:xfrm>
            <a:off x="8933688" y="1645920"/>
            <a:ext cx="251460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1100" b="1">
                <a:solidFill>
                  <a:srgbClr val="059669"/>
                </a:solidFill>
                <a:latin typeface="Arial"/>
              </a:rPr>
              <a:t>4. ACTION &amp; UI</a:t>
            </a:r>
          </a:p>
          <a:p>
            <a:pPr>
              <a:spcBef>
                <a:spcPts val="200"/>
              </a:spcBef>
            </a:pPr>
            <a:r>
              <a:rPr sz="1300" b="1">
                <a:solidFill>
                  <a:srgbClr val="1E2761"/>
                </a:solidFill>
                <a:latin typeface="Arial"/>
              </a:rPr>
              <a:t>Glass Cockpit &amp; Copilot</a:t>
            </a:r>
          </a:p>
          <a:p>
            <a:pPr>
              <a:spcBef>
                <a:spcPts val="1000"/>
              </a:spcBef>
            </a:pPr>
            <a:r>
              <a:rPr sz="950">
                <a:solidFill>
                  <a:srgbClr val="0F172A"/>
                </a:solidFill>
                <a:latin typeface="Arial"/>
              </a:rPr>
              <a:t>• FastAPI async endpoints (~20ms latency).</a:t>
            </a:r>
          </a:p>
          <a:p>
            <a:pPr>
              <a:spcBef>
                <a:spcPts val="1000"/>
              </a:spcBef>
            </a:pPr>
            <a:r>
              <a:rPr sz="950">
                <a:solidFill>
                  <a:srgbClr val="0F172A"/>
                </a:solidFill>
                <a:latin typeface="Arial"/>
              </a:rPr>
              <a:t>• Real-time React 18 / TypeScript single-page app.</a:t>
            </a:r>
          </a:p>
          <a:p>
            <a:pPr>
              <a:spcBef>
                <a:spcPts val="1000"/>
              </a:spcBef>
            </a:pPr>
            <a:r>
              <a:rPr sz="950">
                <a:solidFill>
                  <a:srgbClr val="0F172A"/>
                </a:solidFill>
                <a:latin typeface="Arial"/>
              </a:rPr>
              <a:t>• Deterministic CLI mitigation playbooks.</a:t>
            </a:r>
          </a:p>
          <a:p>
            <a:pPr>
              <a:spcBef>
                <a:spcPts val="1000"/>
              </a:spcBef>
            </a:pPr>
            <a:r>
              <a:rPr sz="950">
                <a:solidFill>
                  <a:srgbClr val="0F172A"/>
                </a:solidFill>
                <a:latin typeface="Arial"/>
              </a:rPr>
              <a:t>• Gemini 2.5 grounded conversational Copilot.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FEATURE PIPELINE  |  </a:t>
            </a:r>
            <a:r>
              <a:rPr sz="1100" b="1">
                <a:solidFill>
                  <a:srgbClr val="059669"/>
                </a:solidFill>
                <a:latin typeface="Arial"/>
              </a:rPr>
              <a:t>[SPEAKER 2: CORE AI &amp; ARCHITECTURE]</a:t>
            </a:r>
          </a:p>
          <a:p>
            <a:r>
              <a:rPr sz="2400" b="1">
                <a:solidFill>
                  <a:srgbClr val="1E2761"/>
                </a:solidFill>
                <a:latin typeface="Arial"/>
              </a:rPr>
              <a:t>Multi-Scale Temporal Feature Engineering</a:t>
            </a:r>
          </a:p>
        </p:txBody>
      </p:sp>
      <p:sp>
        <p:nvSpPr>
          <p:cNvPr id="3" name="Rounded Rectangle 2"/>
          <p:cNvSpPr/>
          <p:nvPr/>
        </p:nvSpPr>
        <p:spPr>
          <a:xfrm>
            <a:off x="7315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445EF2"/>
                </a:solidFill>
                <a:latin typeface="Arial"/>
              </a:rPr>
              <a:t>Temporal Dynamics &amp; Trend Vectors</a:t>
            </a:r>
          </a:p>
          <a:p>
            <a:pPr>
              <a:spcBef>
                <a:spcPts val="1000"/>
              </a:spcBef>
            </a:pPr>
            <a:r>
              <a:rPr sz="1050">
                <a:solidFill>
                  <a:srgbClr val="0F172A"/>
                </a:solidFill>
                <a:latin typeface="Arial"/>
              </a:rPr>
              <a:t>•  &lt;b&gt;6-Hour &amp; 12-Hour Linear Regression Slopes:&lt;/b&gt; Captures rate-of-change (e.g. &lt;code&gt;latency_slope_6h = +8.3ms/6h&lt;/code&gt;). A rising positive slope indicates buffer accumulation before packet drop thresholds are breached.</a:t>
            </a:r>
          </a:p>
          <a:p>
            <a:pPr>
              <a:spcBef>
                <a:spcPts val="1000"/>
              </a:spcBef>
            </a:pPr>
            <a:r>
              <a:rPr sz="1050">
                <a:solidFill>
                  <a:srgbClr val="0F172A"/>
                </a:solidFill>
                <a:latin typeface="Arial"/>
              </a:rPr>
              <a:t>•  &lt;b&gt;Rolling Volatility &amp; Jitter:&lt;/b&gt; Standard deviation across 6-hour windows detects micro-bursts and irregular traffic spikes indicative of DDoS or streaming bottlenecks.</a:t>
            </a:r>
          </a:p>
          <a:p>
            <a:pPr>
              <a:spcBef>
                <a:spcPts val="1000"/>
              </a:spcBef>
            </a:pPr>
            <a:r>
              <a:rPr sz="1050">
                <a:solidFill>
                  <a:srgbClr val="0F172A"/>
                </a:solidFill>
                <a:latin typeface="Arial"/>
              </a:rPr>
              <a:t>•  &lt;b&gt;Exponential Moving Averages (EMA):&lt;/b&gt; 6h and 12h EMAs smooth out transient momentary hiccups while preserving true directional momentum.</a:t>
            </a:r>
          </a:p>
          <a:p>
            <a:pPr>
              <a:spcBef>
                <a:spcPts val="1000"/>
              </a:spcBef>
            </a:pPr>
            <a:r>
              <a:rPr sz="1050">
                <a:solidFill>
                  <a:srgbClr val="0F172A"/>
                </a:solidFill>
                <a:latin typeface="Arial"/>
              </a:rPr>
              <a:t>•  &lt;b&gt;Cumulative Interface Flap Density:&lt;/b&gt; Tracks 24-hour disconnect frequency. 3 flaps in 2 hours triggers an elevated risk multiplier even if current latency is normal.</a:t>
            </a:r>
          </a:p>
        </p:txBody>
      </p:sp>
      <p:sp>
        <p:nvSpPr>
          <p:cNvPr id="4" name="Rounded Rectangle 3"/>
          <p:cNvSpPr/>
          <p:nvPr/>
        </p:nvSpPr>
        <p:spPr>
          <a:xfrm>
            <a:off x="6245352"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065A82"/>
                </a:solidFill>
                <a:latin typeface="Arial"/>
              </a:rPr>
              <a:t>Relative Peer Baseline Normalization</a:t>
            </a:r>
          </a:p>
          <a:p>
            <a:pPr>
              <a:spcBef>
                <a:spcPts val="1000"/>
              </a:spcBef>
            </a:pPr>
            <a:r>
              <a:rPr sz="1050">
                <a:solidFill>
                  <a:srgbClr val="0F172A"/>
                </a:solidFill>
                <a:latin typeface="Arial"/>
              </a:rPr>
              <a:t>•  &lt;b&gt;Campus Building Cohort Baselines:&lt;/b&gt; Network load in the Library is naturally different from a Computer Science Lab. NetSentinel normalizes each router against its building peer average.</a:t>
            </a:r>
          </a:p>
          <a:p>
            <a:pPr>
              <a:spcBef>
                <a:spcPts val="1000"/>
              </a:spcBef>
            </a:pPr>
            <a:r>
              <a:rPr sz="1050">
                <a:solidFill>
                  <a:srgbClr val="0F172A"/>
                </a:solidFill>
                <a:latin typeface="Arial"/>
              </a:rPr>
              <a:t>•  &lt;b&gt;Peer Deviation Ratio:&lt;/b&gt; &lt;i&gt;Dev&lt;sub&gt;latency&lt;/sub&gt; = Latency&lt;sub&gt;node&lt;/sub&gt; / Latency&lt;sub&gt;building_peer_avg&lt;/sub&gt;&lt;/i&gt;. If a single router runs 3x higher latency than its neighboring rooms in the same building, it is isolated as defective.</a:t>
            </a:r>
          </a:p>
          <a:p>
            <a:pPr>
              <a:spcBef>
                <a:spcPts val="1000"/>
              </a:spcBef>
            </a:pPr>
            <a:r>
              <a:rPr sz="1050">
                <a:solidFill>
                  <a:srgbClr val="0F172A"/>
                </a:solidFill>
                <a:latin typeface="Arial"/>
              </a:rPr>
              <a:t>•  &lt;b&gt;Hardware Model Baselines:&lt;/b&gt; TL-841N routers have different throughput caps than high-end AC-1200 units. Benchmarks are hardware-aware to prevent false alarms on low-spec units.</a:t>
            </a:r>
          </a:p>
          <a:p>
            <a:pPr>
              <a:spcBef>
                <a:spcPts val="1000"/>
              </a:spcBef>
            </a:pPr>
            <a:r>
              <a:rPr sz="1050">
                <a:solidFill>
                  <a:srgbClr val="0F172A"/>
                </a:solidFill>
                <a:latin typeface="Arial"/>
              </a:rPr>
              <a:t>•  &lt;b&gt;Congestion Stress Index (CSI):&lt;/b&gt; Normalized composite metric measuring concurrent devices vs throughput vs packet loss. Provides a standardized 0–100 strain index.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MACHINE LEARNING  |  </a:t>
            </a:r>
            <a:r>
              <a:rPr sz="1100" b="1">
                <a:solidFill>
                  <a:srgbClr val="059669"/>
                </a:solidFill>
                <a:latin typeface="Arial"/>
              </a:rPr>
              <a:t>[SPEAKER 2: CORE AI &amp; ARCHITECTURE]</a:t>
            </a:r>
          </a:p>
          <a:p>
            <a:r>
              <a:rPr sz="2400" b="1">
                <a:solidFill>
                  <a:srgbClr val="1E2761"/>
                </a:solidFill>
                <a:latin typeface="Arial"/>
              </a:rPr>
              <a:t>Calibrated XGBoost: 100% Recall &amp; Zero Missed Outages</a:t>
            </a:r>
          </a:p>
        </p:txBody>
      </p:sp>
      <p:sp>
        <p:nvSpPr>
          <p:cNvPr id="3" name="Rounded Rectangle 2"/>
          <p:cNvSpPr/>
          <p:nvPr/>
        </p:nvSpPr>
        <p:spPr>
          <a:xfrm>
            <a:off x="731520" y="1645920"/>
            <a:ext cx="251460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2800" b="1">
                <a:solidFill>
                  <a:srgbClr val="059669"/>
                </a:solidFill>
                <a:latin typeface="Arial"/>
              </a:rPr>
              <a:t>100.0%</a:t>
            </a:r>
          </a:p>
          <a:p>
            <a:pPr>
              <a:spcBef>
                <a:spcPts val="200"/>
              </a:spcBef>
            </a:pPr>
            <a:r>
              <a:rPr sz="1100" b="1">
                <a:solidFill>
                  <a:srgbClr val="1E2761"/>
                </a:solidFill>
                <a:latin typeface="Arial"/>
              </a:rPr>
              <a:t>MODEL RECALL</a:t>
            </a:r>
          </a:p>
          <a:p>
            <a:pPr>
              <a:spcBef>
                <a:spcPts val="200"/>
              </a:spcBef>
            </a:pPr>
            <a:r>
              <a:rPr sz="850">
                <a:solidFill>
                  <a:srgbClr val="64748B"/>
                </a:solidFill>
                <a:latin typeface="Arial"/>
              </a:rPr>
              <a:t>Zero False Negatives: 24/24 Test Failures Caught</a:t>
            </a:r>
          </a:p>
        </p:txBody>
      </p:sp>
      <p:sp>
        <p:nvSpPr>
          <p:cNvPr id="4" name="Rounded Rectangle 3"/>
          <p:cNvSpPr/>
          <p:nvPr/>
        </p:nvSpPr>
        <p:spPr>
          <a:xfrm>
            <a:off x="3465576" y="1645920"/>
            <a:ext cx="251460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2800" b="1">
                <a:solidFill>
                  <a:srgbClr val="445EF2"/>
                </a:solidFill>
                <a:latin typeface="Arial"/>
              </a:rPr>
              <a:t>97.9%</a:t>
            </a:r>
          </a:p>
          <a:p>
            <a:pPr>
              <a:spcBef>
                <a:spcPts val="200"/>
              </a:spcBef>
            </a:pPr>
            <a:r>
              <a:rPr sz="1100" b="1">
                <a:solidFill>
                  <a:srgbClr val="1E2761"/>
                </a:solidFill>
                <a:latin typeface="Arial"/>
              </a:rPr>
              <a:t>ROC-AUC SCORE</a:t>
            </a:r>
          </a:p>
          <a:p>
            <a:pPr>
              <a:spcBef>
                <a:spcPts val="200"/>
              </a:spcBef>
            </a:pPr>
            <a:r>
              <a:rPr sz="850">
                <a:solidFill>
                  <a:srgbClr val="64748B"/>
                </a:solidFill>
                <a:latin typeface="Arial"/>
              </a:rPr>
              <a:t>Near-Perfect Discrimination Across All Decision Thresholds</a:t>
            </a:r>
          </a:p>
        </p:txBody>
      </p:sp>
      <p:sp>
        <p:nvSpPr>
          <p:cNvPr id="5" name="Rounded Rectangle 4"/>
          <p:cNvSpPr/>
          <p:nvPr/>
        </p:nvSpPr>
        <p:spPr>
          <a:xfrm>
            <a:off x="6199632" y="1645920"/>
            <a:ext cx="251460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2800" b="1">
                <a:solidFill>
                  <a:srgbClr val="065A82"/>
                </a:solidFill>
                <a:latin typeface="Arial"/>
              </a:rPr>
              <a:t>96.3%</a:t>
            </a:r>
          </a:p>
          <a:p>
            <a:pPr>
              <a:spcBef>
                <a:spcPts val="200"/>
              </a:spcBef>
            </a:pPr>
            <a:r>
              <a:rPr sz="1100" b="1">
                <a:solidFill>
                  <a:srgbClr val="1E2761"/>
                </a:solidFill>
                <a:latin typeface="Arial"/>
              </a:rPr>
              <a:t>TEST ACCURACY</a:t>
            </a:r>
          </a:p>
          <a:p>
            <a:pPr>
              <a:spcBef>
                <a:spcPts val="200"/>
              </a:spcBef>
            </a:pPr>
            <a:r>
              <a:rPr sz="850">
                <a:solidFill>
                  <a:srgbClr val="64748B"/>
                </a:solidFill>
                <a:latin typeface="Arial"/>
              </a:rPr>
              <a:t>208 out of 216 Total Validation Windows Correct</a:t>
            </a:r>
          </a:p>
        </p:txBody>
      </p:sp>
      <p:sp>
        <p:nvSpPr>
          <p:cNvPr id="6" name="Rounded Rectangle 5"/>
          <p:cNvSpPr/>
          <p:nvPr/>
        </p:nvSpPr>
        <p:spPr>
          <a:xfrm>
            <a:off x="8933688" y="1645920"/>
            <a:ext cx="2514600" cy="1645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2800" b="1">
                <a:solidFill>
                  <a:srgbClr val="E11D48"/>
                </a:solidFill>
                <a:latin typeface="Arial"/>
              </a:rPr>
              <a:t>0.45</a:t>
            </a:r>
          </a:p>
          <a:p>
            <a:pPr>
              <a:spcBef>
                <a:spcPts val="200"/>
              </a:spcBef>
            </a:pPr>
            <a:r>
              <a:rPr sz="1100" b="1">
                <a:solidFill>
                  <a:srgbClr val="1E2761"/>
                </a:solidFill>
                <a:latin typeface="Arial"/>
              </a:rPr>
              <a:t>OPTIMAL THRESHOLD</a:t>
            </a:r>
          </a:p>
          <a:p>
            <a:pPr>
              <a:spcBef>
                <a:spcPts val="200"/>
              </a:spcBef>
            </a:pPr>
            <a:r>
              <a:rPr sz="850">
                <a:solidFill>
                  <a:srgbClr val="64748B"/>
                </a:solidFill>
                <a:latin typeface="Arial"/>
              </a:rPr>
              <a:t>Calibrated for Zero-Tolerance Outage Mission Criticality</a:t>
            </a:r>
          </a:p>
        </p:txBody>
      </p:sp>
      <p:sp>
        <p:nvSpPr>
          <p:cNvPr id="7" name="Rounded Rectangle 6"/>
          <p:cNvSpPr/>
          <p:nvPr/>
        </p:nvSpPr>
        <p:spPr>
          <a:xfrm>
            <a:off x="731520" y="3520440"/>
            <a:ext cx="10728655" cy="2743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657600"/>
            <a:ext cx="10362895" cy="2468880"/>
          </a:xfrm>
          <a:prstGeom prst="rect">
            <a:avLst/>
          </a:prstGeom>
          <a:noFill/>
        </p:spPr>
        <p:txBody>
          <a:bodyPr wrap="square">
            <a:spAutoFit/>
          </a:bodyPr>
          <a:lstStyle/>
          <a:p>
            <a:r>
              <a:rPr sz="1400" b="1">
                <a:solidFill>
                  <a:srgbClr val="1E2761"/>
                </a:solidFill>
                <a:latin typeface="Arial"/>
              </a:rPr>
              <a:t>Audit Breakdown: Confusion Matrix &amp; Class-Imbalance Calibration</a:t>
            </a:r>
          </a:p>
          <a:p>
            <a:pPr>
              <a:spcBef>
                <a:spcPts val="500"/>
              </a:spcBef>
            </a:pPr>
            <a:r>
              <a:rPr sz="1050">
                <a:solidFill>
                  <a:srgbClr val="0F172A"/>
                </a:solidFill>
                <a:latin typeface="Arial"/>
              </a:rPr>
              <a:t>•  &lt;b&gt;Cost-Sensitive Class Weighting:&lt;/b&gt; Degradation represents ~18% of fleet hours. We tuned &lt;code&gt;scale_pos_weight = 2.91&lt;/code&gt;, assigning a 3x higher mathematical penalty to missed outages.</a:t>
            </a:r>
          </a:p>
          <a:p>
            <a:pPr>
              <a:spcBef>
                <a:spcPts val="500"/>
              </a:spcBef>
            </a:pPr>
            <a:r>
              <a:rPr sz="1050">
                <a:solidFill>
                  <a:srgbClr val="0F172A"/>
                </a:solidFill>
                <a:latin typeface="Arial"/>
              </a:rPr>
              <a:t>•  &lt;b&gt;Confusion Matrix Verification:&lt;/b&gt; True Negatives: &lt;b&gt;184&lt;/b&gt;  |  False Positives: &lt;b&gt;8&lt;/b&gt;  |  &lt;b&gt;False Negatives: 0&lt;/b&gt;  |  True Positives: &lt;b&gt;24&lt;/b&gt;.</a:t>
            </a:r>
          </a:p>
          <a:p>
            <a:pPr>
              <a:spcBef>
                <a:spcPts val="500"/>
              </a:spcBef>
            </a:pPr>
            <a:r>
              <a:rPr sz="1050">
                <a:solidFill>
                  <a:srgbClr val="0F172A"/>
                </a:solidFill>
                <a:latin typeface="Arial"/>
              </a:rPr>
              <a:t>•  &lt;b&gt;Operational Impact of Zero False Negatives:&lt;/b&gt; Every single deteriorating router was flagged at least 18 hours in advance, allowing preventative technician dispatch before exams or classes.</a:t>
            </a:r>
          </a:p>
          <a:p>
            <a:pPr>
              <a:spcBef>
                <a:spcPts val="500"/>
              </a:spcBef>
            </a:pPr>
            <a:r>
              <a:rPr sz="1050">
                <a:solidFill>
                  <a:srgbClr val="0F172A"/>
                </a:solidFill>
                <a:latin typeface="Arial"/>
              </a:rPr>
              <a:t>•  &lt;b&gt;Controlled Precision (75.0%):&lt;/b&gt; The 8 false positives are benign warning cushions (nodes showing transient stress that recovered), ensuring high technician trust.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EXPLAINABLE AI  |  </a:t>
            </a:r>
            <a:r>
              <a:rPr sz="1100" b="1">
                <a:solidFill>
                  <a:srgbClr val="059669"/>
                </a:solidFill>
                <a:latin typeface="Arial"/>
              </a:rPr>
              <a:t>[SPEAKER 2: CORE AI &amp; ARCHITECTURE]</a:t>
            </a:r>
          </a:p>
          <a:p>
            <a:r>
              <a:rPr sz="2400" b="1">
                <a:solidFill>
                  <a:srgbClr val="1E2761"/>
                </a:solidFill>
                <a:latin typeface="Arial"/>
              </a:rPr>
              <a:t>TreeSHAP Attribution &amp; Deterministic Action Engine</a:t>
            </a:r>
          </a:p>
        </p:txBody>
      </p:sp>
      <p:sp>
        <p:nvSpPr>
          <p:cNvPr id="3" name="Rounded Rectangle 2"/>
          <p:cNvSpPr/>
          <p:nvPr/>
        </p:nvSpPr>
        <p:spPr>
          <a:xfrm>
            <a:off x="7315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E11D48"/>
                </a:solidFill>
                <a:latin typeface="Arial"/>
              </a:rPr>
              <a:t>Mathematical TreeSHAP Decomposition</a:t>
            </a:r>
          </a:p>
          <a:p>
            <a:pPr>
              <a:spcBef>
                <a:spcPts val="800"/>
              </a:spcBef>
            </a:pPr>
            <a:r>
              <a:rPr sz="1050">
                <a:solidFill>
                  <a:srgbClr val="0F172A"/>
                </a:solidFill>
                <a:latin typeface="Arial"/>
              </a:rPr>
              <a:t>•  &lt;b&gt;No Black Boxes:&lt;/b&gt; Field engineers reject AI predictions unless they know exactly *why* a router is failing.</a:t>
            </a:r>
          </a:p>
          <a:p>
            <a:pPr>
              <a:spcBef>
                <a:spcPts val="800"/>
              </a:spcBef>
            </a:pPr>
            <a:r>
              <a:rPr sz="1050">
                <a:solidFill>
                  <a:srgbClr val="0F172A"/>
                </a:solidFill>
                <a:latin typeface="Arial"/>
              </a:rPr>
              <a:t>•  &lt;b&gt;Exact Game-Theoretic Shapley Values:&lt;/b&gt; Computes marginal contribution for every feature on each prediction: &lt;i&gt;f(x) = E[f(X)] + &amp;sum; &amp;phi;&lt;sub&gt;i&lt;/sub&gt;(x)&lt;/i&gt;.</a:t>
            </a:r>
          </a:p>
          <a:p>
            <a:pPr>
              <a:spcBef>
                <a:spcPts val="800"/>
              </a:spcBef>
            </a:pPr>
            <a:r>
              <a:rPr sz="1050">
                <a:solidFill>
                  <a:srgbClr val="0F172A"/>
                </a:solidFill>
                <a:latin typeface="Arial"/>
              </a:rPr>
              <a:t>•  &lt;b&gt;Example Router R-1010 (87.5% Risk):&lt;/b&gt;&lt;br/&gt;  • &lt;code&gt;Congestion Stress Index: +51.3% risk impact&lt;/code&gt;&lt;br/&gt;  • &lt;code&gt;Latency Slope 6h: +22.1% risk impact&lt;/code&gt;&lt;br/&gt;  • &lt;code&gt;Interface Flap Rate: +14.1% risk impact&lt;/code&gt;</a:t>
            </a:r>
          </a:p>
          <a:p>
            <a:pPr>
              <a:spcBef>
                <a:spcPts val="800"/>
              </a:spcBef>
            </a:pPr>
            <a:r>
              <a:rPr sz="1050">
                <a:solidFill>
                  <a:srgbClr val="0F172A"/>
                </a:solidFill>
                <a:latin typeface="Arial"/>
              </a:rPr>
              <a:t>•  &lt;b&gt;Instant Trust:&lt;/b&gt; Technicians immediately see whether failure is driven by radio congestion, cable flapping, or firmware leaks.</a:t>
            </a:r>
          </a:p>
        </p:txBody>
      </p:sp>
      <p:sp>
        <p:nvSpPr>
          <p:cNvPr id="4" name="Rounded Rectangle 3"/>
          <p:cNvSpPr/>
          <p:nvPr/>
        </p:nvSpPr>
        <p:spPr>
          <a:xfrm>
            <a:off x="6245352"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059669"/>
                </a:solidFill>
                <a:latin typeface="Arial"/>
              </a:rPr>
              <a:t>Deterministic Action Playbooks</a:t>
            </a:r>
          </a:p>
          <a:p>
            <a:pPr>
              <a:spcBef>
                <a:spcPts val="800"/>
              </a:spcBef>
            </a:pPr>
            <a:r>
              <a:rPr sz="1050">
                <a:solidFill>
                  <a:srgbClr val="0F172A"/>
                </a:solidFill>
                <a:latin typeface="Arial"/>
              </a:rPr>
              <a:t>•  &lt;b&gt;Beyond Diagnostics to Prescriptive Action:&lt;/b&gt; NetSentinel doesn't just alert—it maps the top SHAP factor directly to an actionable network engineering playbook.</a:t>
            </a:r>
          </a:p>
          <a:p>
            <a:pPr>
              <a:spcBef>
                <a:spcPts val="800"/>
              </a:spcBef>
            </a:pPr>
            <a:r>
              <a:rPr sz="1050">
                <a:solidFill>
                  <a:srgbClr val="0F172A"/>
                </a:solidFill>
                <a:latin typeface="Arial"/>
              </a:rPr>
              <a:t>•  &lt;b&gt;Automated Action Mapping:&lt;/b&gt;&lt;br/&gt;  • &lt;i&gt;Latency &amp;gt; 100ms:&lt;/i&gt; 'Flush ARP buffers &amp; clear memory cache on interface ge-0/0/1 immediately.'&lt;br/&gt;  • &lt;i&gt;Disconnects &amp;gt; 15 flaps:&lt;/i&gt; 'Dispatch Tier-3 Field Technician for physical SFP transceiver inspection.'&lt;br/&gt;  • &lt;i&gt;Firmware Vulnerability:&lt;/i&gt; 'Deploy critical firmware patch update to v4.14.2-LTS.'</a:t>
            </a:r>
          </a:p>
          <a:p>
            <a:pPr>
              <a:spcBef>
                <a:spcPts val="800"/>
              </a:spcBef>
            </a:pPr>
            <a:r>
              <a:rPr sz="1050">
                <a:solidFill>
                  <a:srgbClr val="0F172A"/>
                </a:solidFill>
                <a:latin typeface="Arial"/>
              </a:rPr>
              <a:t>•  &lt;b&gt;Quantified User Impact:&lt;/b&gt; Displays exact connected student client counts (e.g. 'Protects 20 active clients in Room 282').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PLATFORM EXPERIENCE  |  </a:t>
            </a:r>
            <a:r>
              <a:rPr sz="1100" b="1">
                <a:solidFill>
                  <a:srgbClr val="059669"/>
                </a:solidFill>
                <a:latin typeface="Arial"/>
              </a:rPr>
              <a:t>[SPEAKER 3: OPERATIONS &amp; PLATFORM]</a:t>
            </a:r>
          </a:p>
          <a:p>
            <a:r>
              <a:rPr sz="2400" b="1">
                <a:solidFill>
                  <a:srgbClr val="1E2761"/>
                </a:solidFill>
                <a:latin typeface="Arial"/>
              </a:rPr>
              <a:t>Predictive Operations Radar: Real-Time Fleet Ranking</a:t>
            </a:r>
          </a:p>
        </p:txBody>
      </p:sp>
      <p:sp>
        <p:nvSpPr>
          <p:cNvPr id="3" name="Rounded Rectangle 2"/>
          <p:cNvSpPr/>
          <p:nvPr/>
        </p:nvSpPr>
        <p:spPr>
          <a:xfrm>
            <a:off x="731520" y="1645920"/>
            <a:ext cx="10728655"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600" b="1">
                <a:solidFill>
                  <a:srgbClr val="1E2761"/>
                </a:solidFill>
                <a:latin typeface="Arial"/>
              </a:rPr>
              <a:t>Operational Command View: 24-Hour Predictive Degradation Radar</a:t>
            </a:r>
          </a:p>
          <a:p>
            <a:pPr>
              <a:spcBef>
                <a:spcPts val="800"/>
              </a:spcBef>
            </a:pPr>
            <a:r>
              <a:rPr sz="1100">
                <a:solidFill>
                  <a:srgbClr val="0F172A"/>
                </a:solidFill>
                <a:latin typeface="Arial"/>
              </a:rPr>
              <a:t>•  &lt;b&gt;Proactive Sorting Hierarchy:&lt;/b&gt; Automatically ranks the 60 campus routers by operational priority score, 24-hour forward failure probability, and current health index.</a:t>
            </a:r>
          </a:p>
          <a:p>
            <a:pPr>
              <a:spcBef>
                <a:spcPts val="800"/>
              </a:spcBef>
            </a:pPr>
            <a:r>
              <a:rPr sz="1100">
                <a:solidFill>
                  <a:srgbClr val="0F172A"/>
                </a:solidFill>
                <a:latin typeface="Arial"/>
              </a:rPr>
              <a:t>•  &lt;b&gt;Full-Width Seamless Dashboard:&lt;/b&gt; Redesigned for full 1080p widescreen displays with zero clipping, generous column padding, and whitespace-nowrap identity columns.</a:t>
            </a:r>
          </a:p>
          <a:p>
            <a:pPr>
              <a:spcBef>
                <a:spcPts val="800"/>
              </a:spcBef>
            </a:pPr>
            <a:r>
              <a:rPr sz="1100">
                <a:solidFill>
                  <a:srgbClr val="0F172A"/>
                </a:solidFill>
                <a:latin typeface="Arial"/>
              </a:rPr>
              <a:t>•  &lt;b&gt;Live Risk Metrics Table Breakdown:&lt;/b&gt;&lt;br/&gt;  • &lt;b&gt;Router Identity:&lt;/b&gt; Clean monospaced ID and model badges (e.g. &lt;code&gt;R-1010  v5.1  AC-1200&lt;/code&gt;).&lt;br/&gt;  • &lt;b&gt;Campus Location:&lt;/b&gt; Exact building room and user type (e.g. &lt;code&gt;Main-Block Room 282 • student&lt;/code&gt;).&lt;br/&gt;  • &lt;b&gt;Current Health Score:&lt;/b&gt; Normalized instantaneous 6-factor score (e.g. &lt;code&gt;4.8 / 100 CRITICAL&lt;/code&gt;).&lt;br/&gt;  • &lt;b&gt;AI Future Risk (Next 24h):&lt;/b&gt; Supervised calibrated probability with visual multi-color progress bars (e.g. &lt;code&gt;87.5% HIGH RISK&lt;/code&gt;).&lt;br/&gt;  • &lt;b&gt;Top SHAP Contributor:&lt;/b&gt; Displays exact primary degradation driver inline without truncation (e.g. &lt;code&gt;Congestion Stress Index +51.3%&lt;/code&gt;).&lt;br/&gt;  • &lt;b&gt;Single Actionable Button:&lt;/b&gt; Full untruncated action playbooks (&lt;code&gt;Investigate network/backhaul&lt;/code&gt;).</a:t>
            </a:r>
          </a:p>
          <a:p>
            <a:pPr>
              <a:spcBef>
                <a:spcPts val="800"/>
              </a:spcBef>
            </a:pPr>
            <a:r>
              <a:rPr sz="1100">
                <a:solidFill>
                  <a:srgbClr val="0F172A"/>
                </a:solidFill>
                <a:latin typeface="Arial"/>
              </a:rPr>
              <a:t>•  &lt;b&gt;Interactive 360° Inspection:&lt;/b&gt; One-click transition into deep diagnostic modal for any router in the campus fleet.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PLATFORM EXPERIENCE  |  </a:t>
            </a:r>
            <a:r>
              <a:rPr sz="1100" b="1">
                <a:solidFill>
                  <a:srgbClr val="059669"/>
                </a:solidFill>
                <a:latin typeface="Arial"/>
              </a:rPr>
              <a:t>[SPEAKER 3: OPERATIONS &amp; PLATFORM]</a:t>
            </a:r>
          </a:p>
          <a:p>
            <a:r>
              <a:rPr sz="2400" b="1">
                <a:solidFill>
                  <a:srgbClr val="1E2761"/>
                </a:solidFill>
                <a:latin typeface="Arial"/>
              </a:rPr>
              <a:t>Router 360° Diagnostic Overlay: 48-Hour Horizon</a:t>
            </a:r>
          </a:p>
        </p:txBody>
      </p:sp>
      <p:sp>
        <p:nvSpPr>
          <p:cNvPr id="3" name="Rounded Rectangle 2"/>
          <p:cNvSpPr/>
          <p:nvPr/>
        </p:nvSpPr>
        <p:spPr>
          <a:xfrm>
            <a:off x="731520"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445EF2"/>
                </a:solidFill>
                <a:latin typeface="Arial"/>
              </a:rPr>
              <a:t>1. 48-Hour Horizon Timeline</a:t>
            </a:r>
          </a:p>
          <a:p>
            <a:pPr>
              <a:spcBef>
                <a:spcPts val="1000"/>
              </a:spcBef>
            </a:pPr>
            <a:r>
              <a:rPr sz="1050">
                <a:solidFill>
                  <a:srgbClr val="0F172A"/>
                </a:solidFill>
                <a:latin typeface="Arial"/>
              </a:rPr>
              <a:t>• &lt;b&gt;Continuous State Trajectory:&lt;/b&gt; Traces router health across -24h Past -&gt; -12h Past -&gt; NOW -&gt; +24h Forecast.</a:t>
            </a:r>
          </a:p>
          <a:p>
            <a:pPr>
              <a:spcBef>
                <a:spcPts val="1000"/>
              </a:spcBef>
            </a:pPr>
            <a:r>
              <a:rPr sz="1050">
                <a:solidFill>
                  <a:srgbClr val="0F172A"/>
                </a:solidFill>
                <a:latin typeface="Arial"/>
              </a:rPr>
              <a:t>• &lt;b&gt;Prediction Anchor:&lt;/b&gt; Clear visual distinction between empirical historical telemetry and forward ML forecast.</a:t>
            </a:r>
          </a:p>
          <a:p>
            <a:pPr>
              <a:spcBef>
                <a:spcPts val="1000"/>
              </a:spcBef>
            </a:pPr>
            <a:r>
              <a:rPr sz="1050">
                <a:solidFill>
                  <a:srgbClr val="0F172A"/>
                </a:solidFill>
                <a:latin typeface="Arial"/>
              </a:rPr>
              <a:t>• &lt;b&gt;Early Deterioration Notice:&lt;/b&gt; Reveals whether degradation began 12 hours ago or represents an acute sudden spike.</a:t>
            </a:r>
          </a:p>
          <a:p>
            <a:pPr>
              <a:spcBef>
                <a:spcPts val="1000"/>
              </a:spcBef>
            </a:pPr>
            <a:r>
              <a:rPr sz="1050">
                <a:solidFill>
                  <a:srgbClr val="0F172A"/>
                </a:solidFill>
                <a:latin typeface="Arial"/>
              </a:rPr>
              <a:t>• &lt;b&gt;Confidence Horizon:&lt;/b&gt; Validated against temporal holdout validation windows.</a:t>
            </a:r>
          </a:p>
        </p:txBody>
      </p:sp>
      <p:sp>
        <p:nvSpPr>
          <p:cNvPr id="4" name="Rounded Rectangle 3"/>
          <p:cNvSpPr/>
          <p:nvPr/>
        </p:nvSpPr>
        <p:spPr>
          <a:xfrm>
            <a:off x="4407408"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065A82"/>
                </a:solidFill>
                <a:latin typeface="Arial"/>
              </a:rPr>
              <a:t>2. Live Trend Sparklines</a:t>
            </a:r>
          </a:p>
          <a:p>
            <a:pPr>
              <a:spcBef>
                <a:spcPts val="1000"/>
              </a:spcBef>
            </a:pPr>
            <a:r>
              <a:rPr sz="1050">
                <a:solidFill>
                  <a:srgbClr val="0F172A"/>
                </a:solidFill>
                <a:latin typeface="Arial"/>
              </a:rPr>
              <a:t>• &lt;b&gt;Multi-Metric 24h History:&lt;/b&gt; Renders 4 synchronized sparkline charts: Latency (ms), Packet Loss (%), Disconnects (/hr), Speed (Mbps).</a:t>
            </a:r>
          </a:p>
          <a:p>
            <a:pPr>
              <a:spcBef>
                <a:spcPts val="1000"/>
              </a:spcBef>
            </a:pPr>
            <a:r>
              <a:rPr sz="1050">
                <a:solidFill>
                  <a:srgbClr val="0F172A"/>
                </a:solidFill>
                <a:latin typeface="Arial"/>
              </a:rPr>
              <a:t>• &lt;b&gt;Slope Rate Badges:&lt;/b&gt; Computes real-time 6h slope: &lt;code&gt;+8.3 ms/6h (Rapid Deterioration)&lt;/code&gt;.</a:t>
            </a:r>
          </a:p>
          <a:p>
            <a:pPr>
              <a:spcBef>
                <a:spcPts val="1000"/>
              </a:spcBef>
            </a:pPr>
            <a:r>
              <a:rPr sz="1050">
                <a:solidFill>
                  <a:srgbClr val="0F172A"/>
                </a:solidFill>
                <a:latin typeface="Arial"/>
              </a:rPr>
              <a:t>• &lt;b&gt;Throughput vs Jitter:&lt;/b&gt; Visually compares connected devices against bandwidth exhaustion.</a:t>
            </a:r>
          </a:p>
          <a:p>
            <a:pPr>
              <a:spcBef>
                <a:spcPts val="1000"/>
              </a:spcBef>
            </a:pPr>
            <a:r>
              <a:rPr sz="1050">
                <a:solidFill>
                  <a:srgbClr val="0F172A"/>
                </a:solidFill>
                <a:latin typeface="Arial"/>
              </a:rPr>
              <a:t>• &lt;b&gt;Instant Visual Confirmation:&lt;/b&gt; Validates ML predictions with tangible graphical trends.</a:t>
            </a:r>
          </a:p>
        </p:txBody>
      </p:sp>
      <p:sp>
        <p:nvSpPr>
          <p:cNvPr id="5" name="Rounded Rectangle 4"/>
          <p:cNvSpPr/>
          <p:nvPr/>
        </p:nvSpPr>
        <p:spPr>
          <a:xfrm>
            <a:off x="8083296"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E11D48"/>
                </a:solidFill>
                <a:latin typeface="Arial"/>
              </a:rPr>
              <a:t>3. SHAP Factor Attribution</a:t>
            </a:r>
          </a:p>
          <a:p>
            <a:pPr>
              <a:spcBef>
                <a:spcPts val="1000"/>
              </a:spcBef>
            </a:pPr>
            <a:r>
              <a:rPr sz="1050">
                <a:solidFill>
                  <a:srgbClr val="0F172A"/>
                </a:solidFill>
                <a:latin typeface="Arial"/>
              </a:rPr>
              <a:t>• &lt;b&gt;Ranked Feature Attribution:&lt;/b&gt; Renders exact horizontal bars showing individual feature impact on failure odds.</a:t>
            </a:r>
          </a:p>
          <a:p>
            <a:pPr>
              <a:spcBef>
                <a:spcPts val="1000"/>
              </a:spcBef>
            </a:pPr>
            <a:r>
              <a:rPr sz="1050">
                <a:solidFill>
                  <a:srgbClr val="0F172A"/>
                </a:solidFill>
                <a:latin typeface="Arial"/>
              </a:rPr>
              <a:t>• &lt;b&gt;Raw Telemetry Values:&lt;/b&gt; Displays physical metric readings alongside attribution weights (e.g. &lt;code&gt;Val: 126.5ms&lt;/code&gt;).</a:t>
            </a:r>
          </a:p>
          <a:p>
            <a:pPr>
              <a:spcBef>
                <a:spcPts val="1000"/>
              </a:spcBef>
            </a:pPr>
            <a:r>
              <a:rPr sz="1050">
                <a:solidFill>
                  <a:srgbClr val="0F172A"/>
                </a:solidFill>
                <a:latin typeface="Arial"/>
              </a:rPr>
              <a:t>• &lt;b&gt;Single Action Output:&lt;/b&gt; Synthesizes evidence into one bold, actionable operational directive.</a:t>
            </a:r>
          </a:p>
          <a:p>
            <a:pPr>
              <a:spcBef>
                <a:spcPts val="1000"/>
              </a:spcBef>
            </a:pPr>
            <a:r>
              <a:rPr sz="1050">
                <a:solidFill>
                  <a:srgbClr val="0F172A"/>
                </a:solidFill>
                <a:latin typeface="Arial"/>
              </a:rPr>
              <a:t>• &lt;b&gt;Zero Confusion:&lt;/b&gt; Eliminates conflicting guesswork during high-pressure network incidents.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SYSTEMIC INTELLIGENCE  |  </a:t>
            </a:r>
            <a:r>
              <a:rPr sz="1100" b="1">
                <a:solidFill>
                  <a:srgbClr val="059669"/>
                </a:solidFill>
                <a:latin typeface="Arial"/>
              </a:rPr>
              <a:t>[SPEAKER 3: OPERATIONS &amp; PLATFORM]</a:t>
            </a:r>
          </a:p>
          <a:p>
            <a:r>
              <a:rPr sz="2400" b="1">
                <a:solidFill>
                  <a:srgbClr val="1E2761"/>
                </a:solidFill>
                <a:latin typeface="Arial"/>
              </a:rPr>
              <a:t>Systemic Cohort Risk Patterns &amp; Operational Guardrails</a:t>
            </a:r>
          </a:p>
        </p:txBody>
      </p:sp>
      <p:sp>
        <p:nvSpPr>
          <p:cNvPr id="3" name="Rounded Rectangle 2"/>
          <p:cNvSpPr/>
          <p:nvPr/>
        </p:nvSpPr>
        <p:spPr>
          <a:xfrm>
            <a:off x="731520"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r>
              <a:rPr sz="1500" b="1">
                <a:solidFill>
                  <a:srgbClr val="1E2761"/>
                </a:solidFill>
                <a:latin typeface="Arial"/>
              </a:rPr>
              <a:t>Firmware v5.1 Flaw</a:t>
            </a:r>
          </a:p>
          <a:p>
            <a:pPr>
              <a:spcBef>
                <a:spcPts val="400"/>
              </a:spcBef>
            </a:pPr>
            <a:r>
              <a:rPr sz="2000" b="1">
                <a:solidFill>
                  <a:srgbClr val="E11D48"/>
                </a:solidFill>
                <a:latin typeface="Arial"/>
              </a:rPr>
              <a:t>55.6% RISK RATE</a:t>
            </a:r>
          </a:p>
          <a:p>
            <a:r>
              <a:rPr sz="900" b="1">
                <a:solidFill>
                  <a:srgbClr val="64748B"/>
                </a:solidFill>
                <a:latin typeface="Arial"/>
              </a:rPr>
              <a:t>3.33x Campus Baseline (16.7%)</a:t>
            </a:r>
          </a:p>
          <a:p>
            <a:pPr>
              <a:spcBef>
                <a:spcPts val="1000"/>
              </a:spcBef>
            </a:pPr>
            <a:r>
              <a:rPr sz="1000">
                <a:solidFill>
                  <a:srgbClr val="0F172A"/>
                </a:solidFill>
                <a:latin typeface="Arial"/>
              </a:rPr>
              <a:t>• Affects 5 out of 9 deployed routers running v5.1.</a:t>
            </a:r>
          </a:p>
          <a:p>
            <a:pPr>
              <a:spcBef>
                <a:spcPts val="1000"/>
              </a:spcBef>
            </a:pPr>
            <a:r>
              <a:rPr sz="1000">
                <a:solidFill>
                  <a:srgbClr val="0F172A"/>
                </a:solidFill>
                <a:latin typeface="Arial"/>
              </a:rPr>
              <a:t>• Root Cause: Kernel memory leak in ARP buffer tables under high client concurrency.</a:t>
            </a:r>
          </a:p>
          <a:p>
            <a:pPr>
              <a:spcBef>
                <a:spcPts val="1000"/>
              </a:spcBef>
            </a:pPr>
            <a:r>
              <a:rPr sz="1000">
                <a:solidFill>
                  <a:srgbClr val="0F172A"/>
                </a:solidFill>
                <a:latin typeface="Arial"/>
              </a:rPr>
              <a:t>• Guardrail: Correlation detected across 9 units. Network team alerted to deploy targeted v5.1.2 patch rather than individual router reboots.</a:t>
            </a:r>
          </a:p>
        </p:txBody>
      </p:sp>
      <p:sp>
        <p:nvSpPr>
          <p:cNvPr id="4" name="Rounded Rectangle 3"/>
          <p:cNvSpPr/>
          <p:nvPr/>
        </p:nvSpPr>
        <p:spPr>
          <a:xfrm>
            <a:off x="4407408"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r>
              <a:rPr sz="1500" b="1">
                <a:solidFill>
                  <a:srgbClr val="1E2761"/>
                </a:solidFill>
                <a:latin typeface="Arial"/>
              </a:rPr>
              <a:t>Model AC-1200 Bottleneck</a:t>
            </a:r>
          </a:p>
          <a:p>
            <a:pPr>
              <a:spcBef>
                <a:spcPts val="400"/>
              </a:spcBef>
            </a:pPr>
            <a:r>
              <a:rPr sz="2000" b="1">
                <a:solidFill>
                  <a:srgbClr val="D97706"/>
                </a:solidFill>
                <a:latin typeface="Arial"/>
              </a:rPr>
              <a:t>31.2% RISK RATE</a:t>
            </a:r>
          </a:p>
          <a:p>
            <a:r>
              <a:rPr sz="900" b="1">
                <a:solidFill>
                  <a:srgbClr val="64748B"/>
                </a:solidFill>
                <a:latin typeface="Arial"/>
              </a:rPr>
              <a:t>1.88x Campus Baseline (16.7%)</a:t>
            </a:r>
          </a:p>
          <a:p>
            <a:pPr>
              <a:spcBef>
                <a:spcPts val="1000"/>
              </a:spcBef>
            </a:pPr>
            <a:r>
              <a:rPr sz="1000">
                <a:solidFill>
                  <a:srgbClr val="0F172A"/>
                </a:solidFill>
                <a:latin typeface="Arial"/>
              </a:rPr>
              <a:t>• Affects 5 out of 16 deployed TP-Link AC-1200 units.</a:t>
            </a:r>
          </a:p>
          <a:p>
            <a:pPr>
              <a:spcBef>
                <a:spcPts val="1000"/>
              </a:spcBef>
            </a:pPr>
            <a:r>
              <a:rPr sz="1000">
                <a:solidFill>
                  <a:srgbClr val="0F172A"/>
                </a:solidFill>
                <a:latin typeface="Arial"/>
              </a:rPr>
              <a:t>• Root Cause: Radio buffer bloat during bursty video streaming loads.</a:t>
            </a:r>
          </a:p>
          <a:p>
            <a:pPr>
              <a:spcBef>
                <a:spcPts val="1000"/>
              </a:spcBef>
            </a:pPr>
            <a:r>
              <a:rPr sz="1000">
                <a:solidFill>
                  <a:srgbClr val="0F172A"/>
                </a:solidFill>
                <a:latin typeface="Arial"/>
              </a:rPr>
              <a:t>• Guardrail: Verified physical switch port RF environment before triggering costly hardware warranty replacements.</a:t>
            </a:r>
          </a:p>
        </p:txBody>
      </p:sp>
      <p:sp>
        <p:nvSpPr>
          <p:cNvPr id="5" name="Rounded Rectangle 4"/>
          <p:cNvSpPr/>
          <p:nvPr/>
        </p:nvSpPr>
        <p:spPr>
          <a:xfrm>
            <a:off x="8083296"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r>
              <a:rPr sz="1500" b="1">
                <a:solidFill>
                  <a:srgbClr val="1E2761"/>
                </a:solidFill>
                <a:latin typeface="Arial"/>
              </a:rPr>
              <a:t>Staff-Qtrs Topology Hotspot</a:t>
            </a:r>
          </a:p>
          <a:p>
            <a:pPr>
              <a:spcBef>
                <a:spcPts val="400"/>
              </a:spcBef>
            </a:pPr>
            <a:r>
              <a:rPr sz="2000" b="1">
                <a:solidFill>
                  <a:srgbClr val="445EF2"/>
                </a:solidFill>
                <a:latin typeface="Arial"/>
              </a:rPr>
              <a:t>30.8% RISK RATE</a:t>
            </a:r>
          </a:p>
          <a:p>
            <a:r>
              <a:rPr sz="900" b="1">
                <a:solidFill>
                  <a:srgbClr val="64748B"/>
                </a:solidFill>
                <a:latin typeface="Arial"/>
              </a:rPr>
              <a:t>1.85x Campus Baseline (16.7%)</a:t>
            </a:r>
          </a:p>
          <a:p>
            <a:pPr>
              <a:spcBef>
                <a:spcPts val="1000"/>
              </a:spcBef>
            </a:pPr>
            <a:r>
              <a:rPr sz="1000">
                <a:solidFill>
                  <a:srgbClr val="0F172A"/>
                </a:solidFill>
                <a:latin typeface="Arial"/>
              </a:rPr>
              <a:t>• Affects 4 out of 13 routers located in Staff Quarters.</a:t>
            </a:r>
          </a:p>
          <a:p>
            <a:pPr>
              <a:spcBef>
                <a:spcPts val="1000"/>
              </a:spcBef>
            </a:pPr>
            <a:r>
              <a:rPr sz="1000">
                <a:solidFill>
                  <a:srgbClr val="0F172A"/>
                </a:solidFill>
                <a:latin typeface="Arial"/>
              </a:rPr>
              <a:t>• Root Cause: Shared physical distribution switch uplink experiencing interface flaps during evening peak hours (19:00-22:00).</a:t>
            </a:r>
          </a:p>
          <a:p>
            <a:pPr>
              <a:spcBef>
                <a:spcPts val="1000"/>
              </a:spcBef>
            </a:pPr>
            <a:r>
              <a:rPr sz="1000">
                <a:solidFill>
                  <a:srgbClr val="0F172A"/>
                </a:solidFill>
                <a:latin typeface="Arial"/>
              </a:rPr>
              <a:t>• Guardrail: Isolated fault to central fiber transceiver, preventing unnecessary in-room technician visits.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GENERATIVE AI  |  </a:t>
            </a:r>
            <a:r>
              <a:rPr sz="1100" b="1">
                <a:solidFill>
                  <a:srgbClr val="059669"/>
                </a:solidFill>
                <a:latin typeface="Arial"/>
              </a:rPr>
              <a:t>[SPEAKER 3: OPERATIONS &amp; PLATFORM]</a:t>
            </a:r>
          </a:p>
          <a:p>
            <a:r>
              <a:rPr sz="2400" b="1">
                <a:solidFill>
                  <a:srgbClr val="1E2761"/>
                </a:solidFill>
                <a:latin typeface="Arial"/>
              </a:rPr>
              <a:t>Grounded AI Copilot: Gemini 2.5 with Telemetry RAG</a:t>
            </a:r>
          </a:p>
        </p:txBody>
      </p:sp>
      <p:sp>
        <p:nvSpPr>
          <p:cNvPr id="3" name="Rounded Rectangle 2"/>
          <p:cNvSpPr/>
          <p:nvPr/>
        </p:nvSpPr>
        <p:spPr>
          <a:xfrm>
            <a:off x="7315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445EF2"/>
                </a:solidFill>
                <a:latin typeface="Arial"/>
              </a:rPr>
              <a:t>Strictly Grounded RAG Architecture</a:t>
            </a:r>
          </a:p>
          <a:p>
            <a:pPr>
              <a:spcBef>
                <a:spcPts val="1000"/>
              </a:spcBef>
            </a:pPr>
            <a:r>
              <a:rPr sz="1050">
                <a:solidFill>
                  <a:srgbClr val="0F172A"/>
                </a:solidFill>
                <a:latin typeface="Arial"/>
              </a:rPr>
              <a:t>•  &lt;b&gt;Zero Hallucinations:&lt;/b&gt; Large language models tend to invent network facts. NetSentinel prevents this by injecting verified gNMI telemetry and cohort statistics directly into the Gemini 2.5 Flash system prompt.</a:t>
            </a:r>
          </a:p>
          <a:p>
            <a:pPr>
              <a:spcBef>
                <a:spcPts val="1000"/>
              </a:spcBef>
            </a:pPr>
            <a:r>
              <a:rPr sz="1050">
                <a:solidFill>
                  <a:srgbClr val="0F172A"/>
                </a:solidFill>
                <a:latin typeface="Arial"/>
              </a:rPr>
              <a:t>•  &lt;b&gt;Evidence Citations:&lt;/b&gt; Every response quotes physical evidence: exact latency (&lt;code&gt;126.5ms&lt;/code&gt;), packet loss (&lt;code&gt;3.61%&lt;/code&gt;), firmware version, and connected user counts.</a:t>
            </a:r>
          </a:p>
          <a:p>
            <a:pPr>
              <a:spcBef>
                <a:spcPts val="1000"/>
              </a:spcBef>
            </a:pPr>
            <a:r>
              <a:rPr sz="1050">
                <a:solidFill>
                  <a:srgbClr val="0F172A"/>
                </a:solidFill>
                <a:latin typeface="Arial"/>
              </a:rPr>
              <a:t>•  &lt;b&gt;Fleet-Aware Context:&lt;/b&gt; The Copilot is aware of systemic patterns. When asked about R-1050, it cites both the individual node metrics and the v5.1 firmware vulnerability.</a:t>
            </a:r>
          </a:p>
          <a:p>
            <a:pPr>
              <a:spcBef>
                <a:spcPts val="1000"/>
              </a:spcBef>
            </a:pPr>
            <a:r>
              <a:rPr sz="1050">
                <a:solidFill>
                  <a:srgbClr val="0F172A"/>
                </a:solidFill>
                <a:latin typeface="Arial"/>
              </a:rPr>
              <a:t>•  &lt;b&gt;Conversational Natural Language:&lt;/b&gt; Engineers can ask: &lt;i&gt;'Which routers in Staff-Qtrs will fail before tomorrow morning?'&lt;/i&gt; and receive a ranked technical audit.</a:t>
            </a:r>
          </a:p>
        </p:txBody>
      </p:sp>
      <p:sp>
        <p:nvSpPr>
          <p:cNvPr id="4" name="Rounded Rectangle 3"/>
          <p:cNvSpPr/>
          <p:nvPr/>
        </p:nvSpPr>
        <p:spPr>
          <a:xfrm>
            <a:off x="6245352" y="1645920"/>
            <a:ext cx="5212080" cy="4572000"/>
          </a:xfrm>
          <a:prstGeom prst="roundRect">
            <a:avLst/>
          </a:prstGeom>
          <a:solidFill>
            <a:srgbClr val="0B132B"/>
          </a:solidFill>
          <a:ln w="19050">
            <a:solidFill>
              <a:srgbClr val="445EF2"/>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400" b="1">
                <a:solidFill>
                  <a:srgbClr val="38BDF8"/>
                </a:solidFill>
                <a:latin typeface="Arial"/>
              </a:rPr>
              <a:t>Simulated Copilot Interaction</a:t>
            </a:r>
          </a:p>
          <a:p>
            <a:pPr>
              <a:spcBef>
                <a:spcPts val="800"/>
              </a:spcBef>
            </a:pPr>
            <a:r>
              <a:rPr sz="1050" b="1">
                <a:solidFill>
                  <a:srgbClr val="94A3B8"/>
                </a:solidFill>
                <a:latin typeface="Arial"/>
              </a:rPr>
              <a:t>USER:</a:t>
            </a:r>
          </a:p>
          <a:p>
            <a:pPr>
              <a:spcBef>
                <a:spcPts val="200"/>
              </a:spcBef>
            </a:pPr>
            <a:r>
              <a:rPr sz="950">
                <a:solidFill>
                  <a:srgbClr val="94A3B8"/>
                </a:solidFill>
                <a:latin typeface="Arial"/>
              </a:rPr>
              <a:t>Why is Router R-1050 flagged as Critical Priority?</a:t>
            </a:r>
          </a:p>
          <a:p>
            <a:pPr>
              <a:spcBef>
                <a:spcPts val="800"/>
              </a:spcBef>
            </a:pPr>
            <a:r>
              <a:rPr sz="1050" b="1">
                <a:solidFill>
                  <a:srgbClr val="FFFFFF"/>
                </a:solidFill>
                <a:latin typeface="Arial"/>
              </a:rPr>
              <a:t>NETSENTINEL COPILOT (Gemini 2.5):</a:t>
            </a:r>
          </a:p>
          <a:p>
            <a:pPr>
              <a:spcBef>
                <a:spcPts val="200"/>
              </a:spcBef>
            </a:pPr>
            <a:r>
              <a:rPr sz="950">
                <a:solidFill>
                  <a:srgbClr val="FFFFFF"/>
                </a:solidFill>
                <a:latin typeface="Arial"/>
              </a:rPr>
              <a:t>Router R-1050 (Staff-Qtrs, Room 236) has an AI Future Risk of 87.5% and a health score of 4.8/100.
Key Evidence:
1. Latency is 126.5ms (vs 18.4ms campus healthy baseline).
2. Packet loss is elevated at 3.61% with 100 interface flaps in 24 hours.
3. Systemic Factor: Running firmware v5.1 which has a 55.6% failure rate fleet-wide.
Recommended Action:
Flush ARP cache buffer on ge-0/0/1 immediately and schedule SFP transceiver inspection. 20 active clients currently protected.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PERFORMANCE AUDIT  |  </a:t>
            </a:r>
            <a:r>
              <a:rPr sz="1100" b="1">
                <a:solidFill>
                  <a:srgbClr val="059669"/>
                </a:solidFill>
                <a:latin typeface="Arial"/>
              </a:rPr>
              <a:t>[SPEAKER 4: VALIDATION &amp; IMPACT]</a:t>
            </a:r>
          </a:p>
          <a:p>
            <a:r>
              <a:rPr sz="2400" b="1">
                <a:solidFill>
                  <a:srgbClr val="1E2761"/>
                </a:solidFill>
                <a:latin typeface="Arial"/>
              </a:rPr>
              <a:t>Model Validation &amp; Industry Benchmark Comparison</a:t>
            </a:r>
          </a:p>
        </p:txBody>
      </p:sp>
      <p:sp>
        <p:nvSpPr>
          <p:cNvPr id="3" name="Rounded Rectangle 2"/>
          <p:cNvSpPr/>
          <p:nvPr/>
        </p:nvSpPr>
        <p:spPr>
          <a:xfrm>
            <a:off x="731520" y="1645920"/>
            <a:ext cx="10728655"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600" b="1">
                <a:solidFill>
                  <a:srgbClr val="1E2761"/>
                </a:solidFill>
                <a:latin typeface="Arial"/>
              </a:rPr>
              <a:t>Comparative Audit: Traditional Alerting vs Anomaly Detection vs NetSentinel</a:t>
            </a:r>
          </a:p>
          <a:p>
            <a:pPr>
              <a:spcBef>
                <a:spcPts val="600"/>
              </a:spcBef>
            </a:pPr>
            <a:r>
              <a:rPr sz="1000">
                <a:solidFill>
                  <a:srgbClr val="0F172A"/>
                </a:solidFill>
                <a:latin typeface="Arial"/>
              </a:rPr>
              <a:t>•  &lt;b&gt;Detection Lead Time:&lt;/b&gt; Static Alerting: 0 Hours (Post-Failure)  |  Isolation Forest: 2–4 Hours Advance  |  &lt;b&gt;NetSentinel: 24 Hours Forward Forecast (1 Day Ahead)&lt;/b&gt;</a:t>
            </a:r>
          </a:p>
          <a:p>
            <a:pPr>
              <a:spcBef>
                <a:spcPts val="600"/>
              </a:spcBef>
            </a:pPr>
            <a:r>
              <a:rPr sz="1000">
                <a:solidFill>
                  <a:srgbClr val="0F172A"/>
                </a:solidFill>
                <a:latin typeface="Arial"/>
              </a:rPr>
              <a:t>•  &lt;b&gt;Outage Recall (Capture Rate):&lt;/b&gt; Static Alerting: 54.2% (Misses silent drift)  |  Isolation Forest: 83.3% (Misses subtle slopes)  |  &lt;b&gt;NetSentinel: 100.0% (Zero Missed Outages in Test Set)&lt;/b&gt;</a:t>
            </a:r>
          </a:p>
          <a:p>
            <a:pPr>
              <a:spcBef>
                <a:spcPts val="600"/>
              </a:spcBef>
            </a:pPr>
            <a:r>
              <a:rPr sz="1000">
                <a:solidFill>
                  <a:srgbClr val="0F172A"/>
                </a:solidFill>
                <a:latin typeface="Arial"/>
              </a:rPr>
              <a:t>•  &lt;b&gt;False Negative Count:&lt;/b&gt; Static Alerting: 11 Outages Completely Missed  |  Isolation Forest: 4 Outages Completely Missed  |  &lt;b&gt;NetSentinel: 0 Outages Missed (24/24 Failures Captured)&lt;/b&gt;</a:t>
            </a:r>
          </a:p>
          <a:p>
            <a:pPr>
              <a:spcBef>
                <a:spcPts val="600"/>
              </a:spcBef>
            </a:pPr>
            <a:r>
              <a:rPr sz="1000">
                <a:solidFill>
                  <a:srgbClr val="0F172A"/>
                </a:solidFill>
                <a:latin typeface="Arial"/>
              </a:rPr>
              <a:t>•  &lt;b&gt;Precision / False Alarms:&lt;/b&gt; Static Alerting: 92.0% (Only alerts when dead)  |  Isolation Forest: 58.8% (Frequent noisy alarms)  |  &lt;b&gt;NetSentinel: 75.0% (Controlled &amp; actionable warning cushions)&lt;/b&gt;</a:t>
            </a:r>
          </a:p>
          <a:p>
            <a:pPr>
              <a:spcBef>
                <a:spcPts val="600"/>
              </a:spcBef>
            </a:pPr>
            <a:r>
              <a:rPr sz="1000">
                <a:solidFill>
                  <a:srgbClr val="0F172A"/>
                </a:solidFill>
                <a:latin typeface="Arial"/>
              </a:rPr>
              <a:t>•  &lt;b&gt;ROC-AUC Score:&lt;/b&gt; Static Alerting: 0.682 (Poor discrimination)  |  Isolation Forest: 0.841 (Moderate discrimination)  |  &lt;b&gt;NetSentinel: 0.979 (Near-perfect class separation)&lt;/b&gt;</a:t>
            </a:r>
          </a:p>
          <a:p>
            <a:pPr>
              <a:spcBef>
                <a:spcPts val="600"/>
              </a:spcBef>
            </a:pPr>
            <a:r>
              <a:rPr sz="1000">
                <a:solidFill>
                  <a:srgbClr val="0F172A"/>
                </a:solidFill>
                <a:latin typeface="Arial"/>
              </a:rPr>
              <a:t>•  &lt;b&gt;Root Cause Explainability:&lt;/b&gt; Static Alerting: None (Raw threshold alert)  |  Isolation Forest: None (Generic anomaly score)  |  &lt;b&gt;NetSentinel: Exact TreeSHAP Marginal Factor Decomposition&lt;/b&gt;</a:t>
            </a:r>
          </a:p>
          <a:p>
            <a:pPr>
              <a:spcBef>
                <a:spcPts val="600"/>
              </a:spcBef>
            </a:pPr>
            <a:r>
              <a:rPr sz="1000">
                <a:solidFill>
                  <a:srgbClr val="0F172A"/>
                </a:solidFill>
                <a:latin typeface="Arial"/>
              </a:rPr>
              <a:t>•  &lt;b&gt;Prescriptive Action:&lt;/b&gt; Static Alerting: Generic manual ticket  |  Isolation Forest: Generic device reboot  |  &lt;b&gt;NetSentinel: Deterministic CLI Remediation Command Playbook&lt;/b&gt;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BUSINESS IMPACT  |  </a:t>
            </a:r>
            <a:r>
              <a:rPr sz="1100" b="1">
                <a:solidFill>
                  <a:srgbClr val="059669"/>
                </a:solidFill>
                <a:latin typeface="Arial"/>
              </a:rPr>
              <a:t>[SPEAKER 4: VALIDATION &amp; IMPACT]</a:t>
            </a:r>
          </a:p>
          <a:p>
            <a:r>
              <a:rPr sz="2400" b="1">
                <a:solidFill>
                  <a:srgbClr val="1E2761"/>
                </a:solidFill>
                <a:latin typeface="Arial"/>
              </a:rPr>
              <a:t>Measurable Operational ROI &amp; Academic Impact</a:t>
            </a:r>
          </a:p>
        </p:txBody>
      </p:sp>
      <p:sp>
        <p:nvSpPr>
          <p:cNvPr id="3" name="Rounded Rectangle 2"/>
          <p:cNvSpPr/>
          <p:nvPr/>
        </p:nvSpPr>
        <p:spPr>
          <a:xfrm>
            <a:off x="731520" y="1645920"/>
            <a:ext cx="251460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3600" b="1">
                <a:solidFill>
                  <a:srgbClr val="445EF2"/>
                </a:solidFill>
                <a:latin typeface="Arial"/>
              </a:rPr>
              <a:t>78%</a:t>
            </a:r>
          </a:p>
          <a:p>
            <a:pPr>
              <a:spcBef>
                <a:spcPts val="200"/>
              </a:spcBef>
            </a:pPr>
            <a:r>
              <a:rPr sz="1100" b="1">
                <a:solidFill>
                  <a:srgbClr val="1E2761"/>
                </a:solidFill>
                <a:latin typeface="Arial"/>
              </a:rPr>
              <a:t>MTTD REDUCTION</a:t>
            </a:r>
          </a:p>
          <a:p>
            <a:pPr>
              <a:spcBef>
                <a:spcPts val="400"/>
              </a:spcBef>
            </a:pPr>
            <a:r>
              <a:rPr sz="850">
                <a:solidFill>
                  <a:srgbClr val="64748B"/>
                </a:solidFill>
                <a:latin typeface="Arial"/>
              </a:rPr>
              <a:t>Mean Time to Detect slashed from 142 mins to under 30 seconds upon telemetry ingestion.</a:t>
            </a:r>
          </a:p>
        </p:txBody>
      </p:sp>
      <p:sp>
        <p:nvSpPr>
          <p:cNvPr id="4" name="Rounded Rectangle 3"/>
          <p:cNvSpPr/>
          <p:nvPr/>
        </p:nvSpPr>
        <p:spPr>
          <a:xfrm>
            <a:off x="3465576" y="1645920"/>
            <a:ext cx="251460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3600" b="1">
                <a:solidFill>
                  <a:srgbClr val="059669"/>
                </a:solidFill>
                <a:latin typeface="Arial"/>
              </a:rPr>
              <a:t>335</a:t>
            </a:r>
          </a:p>
          <a:p>
            <a:pPr>
              <a:spcBef>
                <a:spcPts val="200"/>
              </a:spcBef>
            </a:pPr>
            <a:r>
              <a:rPr sz="1100" b="1">
                <a:solidFill>
                  <a:srgbClr val="1E2761"/>
                </a:solidFill>
                <a:latin typeface="Arial"/>
              </a:rPr>
              <a:t>CLIENTS PROTECTED</a:t>
            </a:r>
          </a:p>
          <a:p>
            <a:pPr>
              <a:spcBef>
                <a:spcPts val="400"/>
              </a:spcBef>
            </a:pPr>
            <a:r>
              <a:rPr sz="850">
                <a:solidFill>
                  <a:srgbClr val="64748B"/>
                </a:solidFill>
                <a:latin typeface="Arial"/>
              </a:rPr>
              <a:t>Average connected students and faculty protected per failure event across campus.</a:t>
            </a:r>
          </a:p>
        </p:txBody>
      </p:sp>
      <p:sp>
        <p:nvSpPr>
          <p:cNvPr id="5" name="Rounded Rectangle 4"/>
          <p:cNvSpPr/>
          <p:nvPr/>
        </p:nvSpPr>
        <p:spPr>
          <a:xfrm>
            <a:off x="6199632" y="1645920"/>
            <a:ext cx="251460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3600" b="1">
                <a:solidFill>
                  <a:srgbClr val="E11D48"/>
                </a:solidFill>
                <a:latin typeface="Arial"/>
              </a:rPr>
              <a:t>65%</a:t>
            </a:r>
          </a:p>
          <a:p>
            <a:pPr>
              <a:spcBef>
                <a:spcPts val="200"/>
              </a:spcBef>
            </a:pPr>
            <a:r>
              <a:rPr sz="1100" b="1">
                <a:solidFill>
                  <a:srgbClr val="1E2761"/>
                </a:solidFill>
                <a:latin typeface="Arial"/>
              </a:rPr>
              <a:t>TICKET DROP</a:t>
            </a:r>
          </a:p>
          <a:p>
            <a:pPr>
              <a:spcBef>
                <a:spcPts val="400"/>
              </a:spcBef>
            </a:pPr>
            <a:r>
              <a:rPr sz="850">
                <a:solidFill>
                  <a:srgbClr val="64748B"/>
                </a:solidFill>
                <a:latin typeface="Arial"/>
              </a:rPr>
              <a:t>Projected drop in academic Wi-Fi complaint volume to university IT helpdesk.</a:t>
            </a:r>
          </a:p>
        </p:txBody>
      </p:sp>
      <p:sp>
        <p:nvSpPr>
          <p:cNvPr id="6" name="Rounded Rectangle 5"/>
          <p:cNvSpPr/>
          <p:nvPr/>
        </p:nvSpPr>
        <p:spPr>
          <a:xfrm>
            <a:off x="8933688" y="1645920"/>
            <a:ext cx="2514600"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182880" rIns="182880"/>
          <a:lstStyle/>
          <a:p>
            <a:pPr algn="ctr"/>
            <a:r>
              <a:rPr sz="3600" b="1">
                <a:solidFill>
                  <a:srgbClr val="065A82"/>
                </a:solidFill>
                <a:latin typeface="Arial"/>
              </a:rPr>
              <a:t>54%</a:t>
            </a:r>
          </a:p>
          <a:p>
            <a:pPr>
              <a:spcBef>
                <a:spcPts val="200"/>
              </a:spcBef>
            </a:pPr>
            <a:r>
              <a:rPr sz="1100" b="1">
                <a:solidFill>
                  <a:srgbClr val="1E2761"/>
                </a:solidFill>
                <a:latin typeface="Arial"/>
              </a:rPr>
              <a:t>MTTR SAVINGS</a:t>
            </a:r>
          </a:p>
          <a:p>
            <a:pPr>
              <a:spcBef>
                <a:spcPts val="400"/>
              </a:spcBef>
            </a:pPr>
            <a:r>
              <a:rPr sz="850">
                <a:solidFill>
                  <a:srgbClr val="64748B"/>
                </a:solidFill>
                <a:latin typeface="Arial"/>
              </a:rPr>
              <a:t>Mean Time to Repair cut in half through pre-diagnosed CLI remediation playbooks.</a:t>
            </a:r>
          </a:p>
        </p:txBody>
      </p:sp>
      <p:sp>
        <p:nvSpPr>
          <p:cNvPr id="7" name="Rounded Rectangle 6"/>
          <p:cNvSpPr/>
          <p:nvPr/>
        </p:nvSpPr>
        <p:spPr>
          <a:xfrm>
            <a:off x="731520" y="3931920"/>
            <a:ext cx="10728655" cy="2331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74320" rIns="274320"/>
          <a:lstStyle/>
          <a:p>
            <a:pPr algn="ctr"/>
            <a:r>
              <a:rPr sz="1400" b="1">
                <a:solidFill>
                  <a:srgbClr val="1E2761"/>
                </a:solidFill>
                <a:latin typeface="Arial"/>
              </a:rPr>
              <a:t>Strategic Return on Investment for Campus Leadership</a:t>
            </a:r>
          </a:p>
          <a:p>
            <a:pPr>
              <a:spcBef>
                <a:spcPts val="400"/>
              </a:spcBef>
            </a:pPr>
            <a:r>
              <a:rPr sz="1000">
                <a:solidFill>
                  <a:srgbClr val="0F172A"/>
                </a:solidFill>
                <a:latin typeface="Arial"/>
              </a:rPr>
              <a:t>•  &lt;b&gt;Elimination of Exam &amp; Lecture Disruption:&lt;/b&gt; Network crashes during online exams or research video symposia cause irreparable academic friction. NetSentinel provides 24-hour preventive remediation windows.</a:t>
            </a:r>
          </a:p>
          <a:p>
            <a:pPr>
              <a:spcBef>
                <a:spcPts val="400"/>
              </a:spcBef>
            </a:pPr>
            <a:r>
              <a:rPr sz="1000">
                <a:solidFill>
                  <a:srgbClr val="0F172A"/>
                </a:solidFill>
                <a:latin typeface="Arial"/>
              </a:rPr>
              <a:t>•  &lt;b&gt;Reduced Field Truck Rolls:&lt;/b&gt; By diagnosing whether an issue is an ARP buffer leak (fixed via CLI) vs a physical SFP optical transceiver defect, technicians avoid wasted trips.</a:t>
            </a:r>
          </a:p>
          <a:p>
            <a:pPr>
              <a:spcBef>
                <a:spcPts val="400"/>
              </a:spcBef>
            </a:pPr>
            <a:r>
              <a:rPr sz="1000">
                <a:solidFill>
                  <a:srgbClr val="0F172A"/>
                </a:solidFill>
                <a:latin typeface="Arial"/>
              </a:rPr>
              <a:t>•  &lt;b&gt;Extended Hardware Lifespan:&lt;/b&gt; Distinguishing between temporary firmware memory bloat and actual hardware end-of-life saves thousands in premature router replacement cycles.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PRODUCTION ENGINEERING  |  </a:t>
            </a:r>
            <a:r>
              <a:rPr sz="1100" b="1">
                <a:solidFill>
                  <a:srgbClr val="059669"/>
                </a:solidFill>
                <a:latin typeface="Arial"/>
              </a:rPr>
              <a:t>[SPEAKER 4: VALIDATION &amp; IMPACT]</a:t>
            </a:r>
          </a:p>
          <a:p>
            <a:r>
              <a:rPr sz="2400" b="1">
                <a:solidFill>
                  <a:srgbClr val="1E2761"/>
                </a:solidFill>
                <a:latin typeface="Arial"/>
              </a:rPr>
              <a:t>Engineering Feasibility &amp; Production Readiness</a:t>
            </a:r>
          </a:p>
        </p:txBody>
      </p:sp>
      <p:sp>
        <p:nvSpPr>
          <p:cNvPr id="3" name="Rounded Rectangle 2"/>
          <p:cNvSpPr/>
          <p:nvPr/>
        </p:nvSpPr>
        <p:spPr>
          <a:xfrm>
            <a:off x="731520"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445EF2"/>
                </a:solidFill>
                <a:latin typeface="Arial"/>
              </a:rPr>
              <a:t>1. Minimal Compute Footprint</a:t>
            </a:r>
          </a:p>
          <a:p>
            <a:pPr>
              <a:spcBef>
                <a:spcPts val="1000"/>
              </a:spcBef>
            </a:pPr>
            <a:r>
              <a:rPr sz="1050">
                <a:solidFill>
                  <a:srgbClr val="0F172A"/>
                </a:solidFill>
                <a:latin typeface="Arial"/>
              </a:rPr>
              <a:t>• &lt;b&gt;Ultra-Lightweight Model:&lt;/b&gt; Model artifact size is only &lt;b&gt;86 KB&lt;/b&gt;. TreeSHAP explainer is 161 KB.</a:t>
            </a:r>
          </a:p>
          <a:p>
            <a:pPr>
              <a:spcBef>
                <a:spcPts val="1000"/>
              </a:spcBef>
            </a:pPr>
            <a:r>
              <a:rPr sz="1050">
                <a:solidFill>
                  <a:srgbClr val="0F172A"/>
                </a:solidFill>
                <a:latin typeface="Arial"/>
              </a:rPr>
              <a:t>• &lt;b&gt;Microsecond Inference:&lt;/b&gt; Single-router scoring executes in &amp;lt; 5 milliseconds.</a:t>
            </a:r>
          </a:p>
          <a:p>
            <a:pPr>
              <a:spcBef>
                <a:spcPts val="1000"/>
              </a:spcBef>
            </a:pPr>
            <a:r>
              <a:rPr sz="1050">
                <a:solidFill>
                  <a:srgbClr val="0F172A"/>
                </a:solidFill>
                <a:latin typeface="Arial"/>
              </a:rPr>
              <a:t>• &lt;b&gt;Resource Efficiency:&lt;/b&gt; The entire 60-node campus fleet can be rescored every 60 seconds with &amp;lt; 2% CPU utilization on a 2-core VM.</a:t>
            </a:r>
          </a:p>
          <a:p>
            <a:pPr>
              <a:spcBef>
                <a:spcPts val="1000"/>
              </a:spcBef>
            </a:pPr>
            <a:r>
              <a:rPr sz="1050">
                <a:solidFill>
                  <a:srgbClr val="0F172A"/>
                </a:solidFill>
                <a:latin typeface="Arial"/>
              </a:rPr>
              <a:t>• &lt;b&gt;Zero GPU Dependency:&lt;/b&gt; Runs purely on commodity CPU architecture.</a:t>
            </a:r>
          </a:p>
        </p:txBody>
      </p:sp>
      <p:sp>
        <p:nvSpPr>
          <p:cNvPr id="4" name="Rounded Rectangle 3"/>
          <p:cNvSpPr/>
          <p:nvPr/>
        </p:nvSpPr>
        <p:spPr>
          <a:xfrm>
            <a:off x="4407408"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065A82"/>
                </a:solidFill>
                <a:latin typeface="Arial"/>
              </a:rPr>
              <a:t>2. Open Standards Telemetry</a:t>
            </a:r>
          </a:p>
          <a:p>
            <a:pPr>
              <a:spcBef>
                <a:spcPts val="1000"/>
              </a:spcBef>
            </a:pPr>
            <a:r>
              <a:rPr sz="1050">
                <a:solidFill>
                  <a:srgbClr val="0F172A"/>
                </a:solidFill>
                <a:latin typeface="Arial"/>
              </a:rPr>
              <a:t>• &lt;b&gt;Vendor Agnostic:&lt;/b&gt; Compatible with Cisco, Aruba, TP-Link, Mikrotik, and Ubiquiti hardware.</a:t>
            </a:r>
          </a:p>
          <a:p>
            <a:pPr>
              <a:spcBef>
                <a:spcPts val="1000"/>
              </a:spcBef>
            </a:pPr>
            <a:r>
              <a:rPr sz="1050">
                <a:solidFill>
                  <a:srgbClr val="0F172A"/>
                </a:solidFill>
                <a:latin typeface="Arial"/>
              </a:rPr>
              <a:t>• &lt;b&gt;Standard OpenConfig gNMI:&lt;/b&gt; Streams structured telemetry over gRPC using standard YANG schemas.</a:t>
            </a:r>
          </a:p>
          <a:p>
            <a:pPr>
              <a:spcBef>
                <a:spcPts val="1000"/>
              </a:spcBef>
            </a:pPr>
            <a:r>
              <a:rPr sz="1050">
                <a:solidFill>
                  <a:srgbClr val="0F172A"/>
                </a:solidFill>
                <a:latin typeface="Arial"/>
              </a:rPr>
              <a:t>• &lt;b&gt;Fallback SNMP v3 / IPFIX:&lt;/b&gt; Operates seamlessly over legacy campus switches without proprietary agent software.</a:t>
            </a:r>
          </a:p>
          <a:p>
            <a:pPr>
              <a:spcBef>
                <a:spcPts val="1000"/>
              </a:spcBef>
            </a:pPr>
            <a:r>
              <a:rPr sz="1050">
                <a:solidFill>
                  <a:srgbClr val="0F172A"/>
                </a:solidFill>
                <a:latin typeface="Arial"/>
              </a:rPr>
              <a:t>• &lt;b&gt;Zero Network Overhead:&lt;/b&gt; Telemetry streaming consumes &amp;lt; 0.05% of campus link capacity.</a:t>
            </a:r>
          </a:p>
        </p:txBody>
      </p:sp>
      <p:sp>
        <p:nvSpPr>
          <p:cNvPr id="5" name="Rounded Rectangle 4"/>
          <p:cNvSpPr/>
          <p:nvPr/>
        </p:nvSpPr>
        <p:spPr>
          <a:xfrm>
            <a:off x="8083296"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74320" lIns="274320" rIns="274320"/>
          <a:lstStyle/>
          <a:p>
            <a:pPr algn="ctr"/>
            <a:r>
              <a:rPr sz="1500" b="1">
                <a:solidFill>
                  <a:srgbClr val="059669"/>
                </a:solidFill>
                <a:latin typeface="Arial"/>
              </a:rPr>
              <a:t>3. Enterprise Security</a:t>
            </a:r>
          </a:p>
          <a:p>
            <a:pPr>
              <a:spcBef>
                <a:spcPts val="1000"/>
              </a:spcBef>
            </a:pPr>
            <a:r>
              <a:rPr sz="1050">
                <a:solidFill>
                  <a:srgbClr val="0F172A"/>
                </a:solidFill>
                <a:latin typeface="Arial"/>
              </a:rPr>
              <a:t>• &lt;b&gt;Role-Based Access Control:&lt;/b&gt; Tailored permissions for NetOps Leads, Field Techs, and Read-Only Auditors.</a:t>
            </a:r>
          </a:p>
          <a:p>
            <a:pPr>
              <a:spcBef>
                <a:spcPts val="1000"/>
              </a:spcBef>
            </a:pPr>
            <a:r>
              <a:rPr sz="1050">
                <a:solidFill>
                  <a:srgbClr val="0F172A"/>
                </a:solidFill>
                <a:latin typeface="Arial"/>
              </a:rPr>
              <a:t>• &lt;b&gt;Strict Privacy Isolation:&lt;/b&gt; Ingests metadata and performance counters only—zero payload or packet payload inspection.</a:t>
            </a:r>
          </a:p>
          <a:p>
            <a:pPr>
              <a:spcBef>
                <a:spcPts val="1000"/>
              </a:spcBef>
            </a:pPr>
            <a:r>
              <a:rPr sz="1050">
                <a:solidFill>
                  <a:srgbClr val="0F172A"/>
                </a:solidFill>
                <a:latin typeface="Arial"/>
              </a:rPr>
              <a:t>• &lt;b&gt;Encrypted mTLS Ingestion:&lt;/b&gt; Telemetry channels secured with mutual TLS 1.3 certificates.</a:t>
            </a:r>
          </a:p>
          <a:p>
            <a:pPr>
              <a:spcBef>
                <a:spcPts val="1000"/>
              </a:spcBef>
            </a:pPr>
            <a:r>
              <a:rPr sz="1050">
                <a:solidFill>
                  <a:srgbClr val="0F172A"/>
                </a:solidFill>
                <a:latin typeface="Arial"/>
              </a:rPr>
              <a:t>• &lt;b&gt;Fully Containerized:&lt;/b&gt; Pre-built Docker Compose manifests for one-command on-premise deployment.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spcAft>
                <a:spcPts val="400"/>
              </a:spcAft>
            </a:pPr>
            <a:r>
              <a:rPr sz="1100" b="1">
                <a:solidFill>
                  <a:srgbClr val="445EF2"/>
                </a:solidFill>
                <a:latin typeface="Arial"/>
              </a:rPr>
              <a:t>FUTURE HORIZON  |  </a:t>
            </a:r>
            <a:r>
              <a:rPr sz="1100" b="1">
                <a:solidFill>
                  <a:srgbClr val="059669"/>
                </a:solidFill>
                <a:latin typeface="Arial"/>
              </a:rPr>
              <a:t>[SPEAKER 4: VALIDATION &amp; IMPACT]</a:t>
            </a:r>
          </a:p>
          <a:p>
            <a:r>
              <a:rPr sz="2400" b="1">
                <a:solidFill>
                  <a:srgbClr val="1E2761"/>
                </a:solidFill>
                <a:latin typeface="Arial"/>
              </a:rPr>
              <a:t>Strategic Product Roadmap: Version 5.0 Vision</a:t>
            </a:r>
          </a:p>
        </p:txBody>
      </p:sp>
      <p:sp>
        <p:nvSpPr>
          <p:cNvPr id="3" name="Rounded Rectangle 2"/>
          <p:cNvSpPr/>
          <p:nvPr/>
        </p:nvSpPr>
        <p:spPr>
          <a:xfrm>
            <a:off x="731520"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r>
              <a:rPr sz="1100" b="1">
                <a:solidFill>
                  <a:srgbClr val="445EF2"/>
                </a:solidFill>
                <a:latin typeface="Arial"/>
              </a:rPr>
              <a:t>PHASE 1: Q1 2027</a:t>
            </a:r>
          </a:p>
          <a:p>
            <a:pPr>
              <a:spcBef>
                <a:spcPts val="200"/>
              </a:spcBef>
            </a:pPr>
            <a:r>
              <a:rPr sz="1500" b="1">
                <a:solidFill>
                  <a:srgbClr val="1E2761"/>
                </a:solidFill>
                <a:latin typeface="Arial"/>
              </a:rPr>
              <a:t>Closed-Loop Self-Healing</a:t>
            </a:r>
          </a:p>
          <a:p>
            <a:pPr>
              <a:spcBef>
                <a:spcPts val="1000"/>
              </a:spcBef>
            </a:pPr>
            <a:r>
              <a:rPr sz="1050">
                <a:solidFill>
                  <a:srgbClr val="0F172A"/>
                </a:solidFill>
                <a:latin typeface="Arial"/>
              </a:rPr>
              <a:t>• Programmatic write-back via Netconf / YANG.</a:t>
            </a:r>
          </a:p>
          <a:p>
            <a:pPr>
              <a:spcBef>
                <a:spcPts val="1000"/>
              </a:spcBef>
            </a:pPr>
            <a:r>
              <a:rPr sz="1050">
                <a:solidFill>
                  <a:srgbClr val="0F172A"/>
                </a:solidFill>
                <a:latin typeface="Arial"/>
              </a:rPr>
              <a:t>• Automated execution of ARP cache flushes and port isolation upon 80%+ risk threshold.</a:t>
            </a:r>
          </a:p>
          <a:p>
            <a:pPr>
              <a:spcBef>
                <a:spcPts val="1000"/>
              </a:spcBef>
            </a:pPr>
            <a:r>
              <a:rPr sz="1050">
                <a:solidFill>
                  <a:srgbClr val="0F172A"/>
                </a:solidFill>
                <a:latin typeface="Arial"/>
              </a:rPr>
              <a:t>• Human-in-the-loop approval workflows for hardware restarts.</a:t>
            </a:r>
          </a:p>
          <a:p>
            <a:pPr>
              <a:spcBef>
                <a:spcPts val="1000"/>
              </a:spcBef>
            </a:pPr>
            <a:r>
              <a:rPr sz="1050">
                <a:solidFill>
                  <a:srgbClr val="0F172A"/>
                </a:solidFill>
                <a:latin typeface="Arial"/>
              </a:rPr>
              <a:t>• Zero-touch remediation of 40% of common memory leaks.</a:t>
            </a:r>
          </a:p>
        </p:txBody>
      </p:sp>
      <p:sp>
        <p:nvSpPr>
          <p:cNvPr id="4" name="Rounded Rectangle 3"/>
          <p:cNvSpPr/>
          <p:nvPr/>
        </p:nvSpPr>
        <p:spPr>
          <a:xfrm>
            <a:off x="4407408"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r>
              <a:rPr sz="1100" b="1">
                <a:solidFill>
                  <a:srgbClr val="065A82"/>
                </a:solidFill>
                <a:latin typeface="Arial"/>
              </a:rPr>
              <a:t>PHASE 2: Q3 2027</a:t>
            </a:r>
          </a:p>
          <a:p>
            <a:pPr>
              <a:spcBef>
                <a:spcPts val="200"/>
              </a:spcBef>
            </a:pPr>
            <a:r>
              <a:rPr sz="1500" b="1">
                <a:solidFill>
                  <a:srgbClr val="1E2761"/>
                </a:solidFill>
                <a:latin typeface="Arial"/>
              </a:rPr>
              <a:t>Edge ONNX Firmware Probes</a:t>
            </a:r>
          </a:p>
          <a:p>
            <a:pPr>
              <a:spcBef>
                <a:spcPts val="1000"/>
              </a:spcBef>
            </a:pPr>
            <a:r>
              <a:rPr sz="1050">
                <a:solidFill>
                  <a:srgbClr val="0F172A"/>
                </a:solidFill>
                <a:latin typeface="Arial"/>
              </a:rPr>
              <a:t>• Compile XGBoost runtime into C++ ONNX binaries.</a:t>
            </a:r>
          </a:p>
          <a:p>
            <a:pPr>
              <a:spcBef>
                <a:spcPts val="1000"/>
              </a:spcBef>
            </a:pPr>
            <a:r>
              <a:rPr sz="1050">
                <a:solidFill>
                  <a:srgbClr val="0F172A"/>
                </a:solidFill>
                <a:latin typeface="Arial"/>
              </a:rPr>
              <a:t>• Deploy inference directly onto distribution switch processors.</a:t>
            </a:r>
          </a:p>
          <a:p>
            <a:pPr>
              <a:spcBef>
                <a:spcPts val="1000"/>
              </a:spcBef>
            </a:pPr>
            <a:r>
              <a:rPr sz="1050">
                <a:solidFill>
                  <a:srgbClr val="0F172A"/>
                </a:solidFill>
                <a:latin typeface="Arial"/>
              </a:rPr>
              <a:t>• Sub-second autonomous edge anomaly detection.</a:t>
            </a:r>
          </a:p>
          <a:p>
            <a:pPr>
              <a:spcBef>
                <a:spcPts val="1000"/>
              </a:spcBef>
            </a:pPr>
            <a:r>
              <a:rPr sz="1050">
                <a:solidFill>
                  <a:srgbClr val="0F172A"/>
                </a:solidFill>
                <a:latin typeface="Arial"/>
              </a:rPr>
              <a:t>• Operates even if central WAN uplink is severed.</a:t>
            </a:r>
          </a:p>
        </p:txBody>
      </p:sp>
      <p:sp>
        <p:nvSpPr>
          <p:cNvPr id="5" name="Rounded Rectangle 4"/>
          <p:cNvSpPr/>
          <p:nvPr/>
        </p:nvSpPr>
        <p:spPr>
          <a:xfrm>
            <a:off x="8083296" y="1645920"/>
            <a:ext cx="3364992"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r>
              <a:rPr sz="1100" b="1">
                <a:solidFill>
                  <a:srgbClr val="1E2761"/>
                </a:solidFill>
                <a:latin typeface="Arial"/>
              </a:rPr>
              <a:t>PHASE 3: Q1 2028</a:t>
            </a:r>
          </a:p>
          <a:p>
            <a:pPr>
              <a:spcBef>
                <a:spcPts val="200"/>
              </a:spcBef>
            </a:pPr>
            <a:r>
              <a:rPr sz="1500" b="1">
                <a:solidFill>
                  <a:srgbClr val="1E2761"/>
                </a:solidFill>
                <a:latin typeface="Arial"/>
              </a:rPr>
              <a:t>Multi-Campus AI Federation</a:t>
            </a:r>
          </a:p>
          <a:p>
            <a:pPr>
              <a:spcBef>
                <a:spcPts val="1000"/>
              </a:spcBef>
            </a:pPr>
            <a:r>
              <a:rPr sz="1050">
                <a:solidFill>
                  <a:srgbClr val="0F172A"/>
                </a:solidFill>
                <a:latin typeface="Arial"/>
              </a:rPr>
              <a:t>• Centralized multi-tenant Network Operations Center.</a:t>
            </a:r>
          </a:p>
          <a:p>
            <a:pPr>
              <a:spcBef>
                <a:spcPts val="1000"/>
              </a:spcBef>
            </a:pPr>
            <a:r>
              <a:rPr sz="1050">
                <a:solidFill>
                  <a:srgbClr val="0F172A"/>
                </a:solidFill>
                <a:latin typeface="Arial"/>
              </a:rPr>
              <a:t>• Federated learning across satellite university campuses.</a:t>
            </a:r>
          </a:p>
          <a:p>
            <a:pPr>
              <a:spcBef>
                <a:spcPts val="1000"/>
              </a:spcBef>
            </a:pPr>
            <a:r>
              <a:rPr sz="1050">
                <a:solidFill>
                  <a:srgbClr val="0F172A"/>
                </a:solidFill>
                <a:latin typeface="Arial"/>
              </a:rPr>
              <a:t>• Fleet-wide zero-day firmware vulnerability propagation.</a:t>
            </a:r>
          </a:p>
          <a:p>
            <a:pPr>
              <a:spcBef>
                <a:spcPts val="1000"/>
              </a:spcBef>
            </a:pPr>
            <a:r>
              <a:rPr sz="1050">
                <a:solidFill>
                  <a:srgbClr val="0F172A"/>
                </a:solidFill>
                <a:latin typeface="Arial"/>
              </a:rPr>
              <a:t>• Automated vendor bug report generation.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097280"/>
            <a:ext cx="10728655" cy="2743200"/>
          </a:xfrm>
          <a:prstGeom prst="rect">
            <a:avLst/>
          </a:prstGeom>
          <a:noFill/>
        </p:spPr>
        <p:txBody>
          <a:bodyPr wrap="square">
            <a:spAutoFit/>
          </a:bodyPr>
          <a:lstStyle/>
          <a:p>
            <a:r>
              <a:rPr sz="1400" b="1">
                <a:solidFill>
                  <a:srgbClr val="445EF2"/>
                </a:solidFill>
                <a:latin typeface="Arial"/>
              </a:rPr>
              <a:t>CONCLUSION &amp; SUMMARY</a:t>
            </a:r>
          </a:p>
          <a:p>
            <a:pPr>
              <a:spcBef>
                <a:spcPts val="600"/>
              </a:spcBef>
            </a:pPr>
            <a:r>
              <a:rPr sz="2800" b="1">
                <a:solidFill>
                  <a:srgbClr val="FFFFFF"/>
                </a:solidFill>
                <a:latin typeface="Arial"/>
              </a:rPr>
              <a:t>NetSentinel: Transforming Campus Wi-Fi from Reactive Firefighting to 24h Predictive Health</a:t>
            </a:r>
          </a:p>
          <a:p>
            <a:pPr>
              <a:spcBef>
                <a:spcPts val="1200"/>
              </a:spcBef>
            </a:pPr>
            <a:r>
              <a:rPr sz="1500">
                <a:solidFill>
                  <a:srgbClr val="94A3B8"/>
                </a:solidFill>
                <a:latin typeface="Arial"/>
              </a:rPr>
              <a:t>100% Model Recall  •  Zero False Negatives  •  TreeSHAP Factor Attribution  •  Grounded Gemini 2.5 Copilot</a:t>
            </a:r>
          </a:p>
        </p:txBody>
      </p:sp>
      <p:sp>
        <p:nvSpPr>
          <p:cNvPr id="3" name="Rounded Rectangle 2"/>
          <p:cNvSpPr/>
          <p:nvPr/>
        </p:nvSpPr>
        <p:spPr>
          <a:xfrm>
            <a:off x="731520" y="4114800"/>
            <a:ext cx="25146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200" b="1">
                <a:solidFill>
                  <a:srgbClr val="445EF2"/>
                </a:solidFill>
                <a:latin typeface="Arial"/>
              </a:rPr>
              <a:t>Speaker 1</a:t>
            </a:r>
          </a:p>
          <a:p>
            <a:pPr>
              <a:spcBef>
                <a:spcPts val="200"/>
              </a:spcBef>
            </a:pPr>
            <a:r>
              <a:rPr sz="1100" b="1">
                <a:solidFill>
                  <a:srgbClr val="FFFFFF"/>
                </a:solidFill>
                <a:latin typeface="Arial"/>
              </a:rPr>
              <a:t>Context &amp; Data Science</a:t>
            </a:r>
          </a:p>
          <a:p>
            <a:pPr>
              <a:spcBef>
                <a:spcPts val="400"/>
              </a:spcBef>
            </a:pPr>
            <a:r>
              <a:rPr sz="900">
                <a:solidFill>
                  <a:srgbClr val="94A3B8"/>
                </a:solidFill>
                <a:latin typeface="Arial"/>
              </a:rPr>
              <a:t>Ready for Questions on: Problem Statement &amp; Telemetry Ingestion</a:t>
            </a:r>
          </a:p>
        </p:txBody>
      </p:sp>
      <p:sp>
        <p:nvSpPr>
          <p:cNvPr id="4" name="Rounded Rectangle 3"/>
          <p:cNvSpPr/>
          <p:nvPr/>
        </p:nvSpPr>
        <p:spPr>
          <a:xfrm>
            <a:off x="3465576" y="4114800"/>
            <a:ext cx="25146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200" b="1">
                <a:solidFill>
                  <a:srgbClr val="445EF2"/>
                </a:solidFill>
                <a:latin typeface="Arial"/>
              </a:rPr>
              <a:t>Speaker 2</a:t>
            </a:r>
          </a:p>
          <a:p>
            <a:pPr>
              <a:spcBef>
                <a:spcPts val="200"/>
              </a:spcBef>
            </a:pPr>
            <a:r>
              <a:rPr sz="1100" b="1">
                <a:solidFill>
                  <a:srgbClr val="FFFFFF"/>
                </a:solidFill>
                <a:latin typeface="Arial"/>
              </a:rPr>
              <a:t>Core AI &amp; Architecture</a:t>
            </a:r>
          </a:p>
          <a:p>
            <a:pPr>
              <a:spcBef>
                <a:spcPts val="400"/>
              </a:spcBef>
            </a:pPr>
            <a:r>
              <a:rPr sz="900">
                <a:solidFill>
                  <a:srgbClr val="94A3B8"/>
                </a:solidFill>
                <a:latin typeface="Arial"/>
              </a:rPr>
              <a:t>Ready for Questions on: Feature Pipeline, XGBoost &amp; TreeSHAP</a:t>
            </a:r>
          </a:p>
        </p:txBody>
      </p:sp>
      <p:sp>
        <p:nvSpPr>
          <p:cNvPr id="5" name="Rounded Rectangle 4"/>
          <p:cNvSpPr/>
          <p:nvPr/>
        </p:nvSpPr>
        <p:spPr>
          <a:xfrm>
            <a:off x="6199632" y="4114800"/>
            <a:ext cx="25146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200" b="1">
                <a:solidFill>
                  <a:srgbClr val="445EF2"/>
                </a:solidFill>
                <a:latin typeface="Arial"/>
              </a:rPr>
              <a:t>Speaker 3</a:t>
            </a:r>
          </a:p>
          <a:p>
            <a:pPr>
              <a:spcBef>
                <a:spcPts val="200"/>
              </a:spcBef>
            </a:pPr>
            <a:r>
              <a:rPr sz="1100" b="1">
                <a:solidFill>
                  <a:srgbClr val="FFFFFF"/>
                </a:solidFill>
                <a:latin typeface="Arial"/>
              </a:rPr>
              <a:t>Operations &amp; Platform</a:t>
            </a:r>
          </a:p>
          <a:p>
            <a:pPr>
              <a:spcBef>
                <a:spcPts val="400"/>
              </a:spcBef>
            </a:pPr>
            <a:r>
              <a:rPr sz="900">
                <a:solidFill>
                  <a:srgbClr val="94A3B8"/>
                </a:solidFill>
                <a:latin typeface="Arial"/>
              </a:rPr>
              <a:t>Ready for Questions on: Predictive Radar, Diagnostics &amp; Copilot</a:t>
            </a:r>
          </a:p>
        </p:txBody>
      </p:sp>
      <p:sp>
        <p:nvSpPr>
          <p:cNvPr id="6" name="Rounded Rectangle 5"/>
          <p:cNvSpPr/>
          <p:nvPr/>
        </p:nvSpPr>
        <p:spPr>
          <a:xfrm>
            <a:off x="8933688" y="4114800"/>
            <a:ext cx="25146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r>
              <a:rPr sz="1200" b="1">
                <a:solidFill>
                  <a:srgbClr val="445EF2"/>
                </a:solidFill>
                <a:latin typeface="Arial"/>
              </a:rPr>
              <a:t>Speaker 4</a:t>
            </a:r>
          </a:p>
          <a:p>
            <a:pPr>
              <a:spcBef>
                <a:spcPts val="200"/>
              </a:spcBef>
            </a:pPr>
            <a:r>
              <a:rPr sz="1100" b="1">
                <a:solidFill>
                  <a:srgbClr val="FFFFFF"/>
                </a:solidFill>
                <a:latin typeface="Arial"/>
              </a:rPr>
              <a:t>Validation &amp; Impact</a:t>
            </a:r>
          </a:p>
          <a:p>
            <a:pPr>
              <a:spcBef>
                <a:spcPts val="400"/>
              </a:spcBef>
            </a:pPr>
            <a:r>
              <a:rPr sz="900">
                <a:solidFill>
                  <a:srgbClr val="94A3B8"/>
                </a:solidFill>
                <a:latin typeface="Arial"/>
              </a:rPr>
              <a:t>Ready for Questions on: Audit Results, Financial ROI &amp;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